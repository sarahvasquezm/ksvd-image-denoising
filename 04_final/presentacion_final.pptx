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77f2ae4a61b4f53" /><Relationship Type="http://schemas.openxmlformats.org/officeDocument/2006/relationships/extended-properties" Target="/docProps/app.xml" Id="Ra46b998a63c947c4" /><Relationship Type="http://schemas.openxmlformats.org/officeDocument/2006/relationships/officeDocument" Target="/ppt/presentation.xml" Id="Ra9a162d18cff465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470a6772d9e4b01"/>
  </p:sldMasterIdLst>
  <p:notesMasterIdLst>
    <p:notesMasterId xmlns:r="http://schemas.openxmlformats.org/officeDocument/2006/relationships" r:id="Rb1c09672907148d1"/>
  </p:notesMasterIdLst>
  <p:sldIdLst>
    <p:sldId xmlns:r="http://schemas.openxmlformats.org/officeDocument/2006/relationships" id="256" r:id="R1365881fd791434a"/>
    <p:sldId xmlns:r="http://schemas.openxmlformats.org/officeDocument/2006/relationships" id="257" r:id="Rbb00ebde34bb4ed7"/>
    <p:sldId xmlns:r="http://schemas.openxmlformats.org/officeDocument/2006/relationships" id="258" r:id="Rd05bdbb8ebe44399"/>
    <p:sldId xmlns:r="http://schemas.openxmlformats.org/officeDocument/2006/relationships" id="259" r:id="R9d8ab16613df48c0"/>
    <p:sldId xmlns:r="http://schemas.openxmlformats.org/officeDocument/2006/relationships" id="260" r:id="R2ddc8205ea084020"/>
    <p:sldId xmlns:r="http://schemas.openxmlformats.org/officeDocument/2006/relationships" id="261" r:id="R68b8df981c0d4cc7"/>
    <p:sldId xmlns:r="http://schemas.openxmlformats.org/officeDocument/2006/relationships" id="262" r:id="R0cf22cc6321b42d5"/>
    <p:sldId xmlns:r="http://schemas.openxmlformats.org/officeDocument/2006/relationships" id="263" r:id="Ra575eba9ecb7493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8c7c410bd964bc3" /><Relationship Type="http://schemas.openxmlformats.org/officeDocument/2006/relationships/slideMaster" Target="/ppt/slideMasters/slideMaster1.xml" Id="Re470a6772d9e4b01" /><Relationship Type="http://schemas.openxmlformats.org/officeDocument/2006/relationships/notesMaster" Target="/ppt/notesMasters/notesMaster1.xml" Id="Rb1c09672907148d1" /><Relationship Type="http://schemas.openxmlformats.org/officeDocument/2006/relationships/presProps" Target="/ppt/presProps.xml" Id="Rd0c4bd0247a74328" /><Relationship Type="http://schemas.openxmlformats.org/officeDocument/2006/relationships/tableStyles" Target="/ppt/tableStyles.xml" Id="Re1d58d41ae1845b2" /><Relationship Type="http://schemas.openxmlformats.org/officeDocument/2006/relationships/slide" Target="/ppt/slides/slide1.xml" Id="R1365881fd791434a" /><Relationship Type="http://schemas.openxmlformats.org/officeDocument/2006/relationships/slide" Target="/ppt/slides/slide2.xml" Id="Rbb00ebde34bb4ed7" /><Relationship Type="http://schemas.openxmlformats.org/officeDocument/2006/relationships/slide" Target="/ppt/slides/slide3.xml" Id="Rd05bdbb8ebe44399" /><Relationship Type="http://schemas.openxmlformats.org/officeDocument/2006/relationships/slide" Target="/ppt/slides/slide4.xml" Id="R9d8ab16613df48c0" /><Relationship Type="http://schemas.openxmlformats.org/officeDocument/2006/relationships/slide" Target="/ppt/slides/slide5.xml" Id="R2ddc8205ea084020" /><Relationship Type="http://schemas.openxmlformats.org/officeDocument/2006/relationships/slide" Target="/ppt/slides/slide6.xml" Id="R68b8df981c0d4cc7" /><Relationship Type="http://schemas.openxmlformats.org/officeDocument/2006/relationships/slide" Target="/ppt/slides/slide7.xml" Id="R0cf22cc6321b42d5" /><Relationship Type="http://schemas.openxmlformats.org/officeDocument/2006/relationships/slide" Target="/ppt/slides/slide8.xml" Id="Ra575eba9ecb7493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b66e9ed6f894f6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898b403106340a9" /><Relationship Type="http://schemas.openxmlformats.org/officeDocument/2006/relationships/notesMaster" Target="/ppt/notesMasters/notesMaster1.xml" Id="R836efd832a4c48d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ba53fa5826a4820" /><Relationship Type="http://schemas.openxmlformats.org/officeDocument/2006/relationships/notesMaster" Target="/ppt/notesMasters/notesMaster1.xml" Id="R3f2842ed16ca454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f3728945e03490d" /><Relationship Type="http://schemas.openxmlformats.org/officeDocument/2006/relationships/notesMaster" Target="/ppt/notesMasters/notesMaster1.xml" Id="R7a8558daab1840e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371d7ef4a2b4475" /><Relationship Type="http://schemas.openxmlformats.org/officeDocument/2006/relationships/notesMaster" Target="/ppt/notesMasters/notesMaster1.xml" Id="R4febff160b984cb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e6ba14b69f74427" /><Relationship Type="http://schemas.openxmlformats.org/officeDocument/2006/relationships/notesMaster" Target="/ppt/notesMasters/notesMaster1.xml" Id="Rf7b856b0f26c468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94c5b2e20a44a77" /><Relationship Type="http://schemas.openxmlformats.org/officeDocument/2006/relationships/notesMaster" Target="/ppt/notesMasters/notesMaster1.xml" Id="R38cb3319df26480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7a9f9d165df4200" /><Relationship Type="http://schemas.openxmlformats.org/officeDocument/2006/relationships/notesMaster" Target="/ppt/notesMasters/notesMaster1.xml" Id="Red248764da2b431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8c58cf224734175" /><Relationship Type="http://schemas.openxmlformats.org/officeDocument/2006/relationships/notesMaster" Target="/ppt/notesMasters/notesMaster1.xml" Id="Re2a55b748f4a455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03_evaluacion/resultados.csv y 04_final/figuras/reconstrucciones.png. Presentar el resultado como prueba de concepto, no como comparación con el estado del arte.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01_datos/config.json, 01_datos/datos.npz y comparación exacta con artifacts/entrega_01/datos.npz. El bloque 1 fue ejecutado en Kaggle CPU; los cuatro bloques se verificaron localmente.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src/modelo.py; Aharon, Elad y Bruckstein (2006), DOI 10.1109/TSP.2006.881199; NumPy SVD; scikit-learn orthogonal_mp.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02_modelo/historial.csv y 02_modelo/config_efectiva.json. El porcentaje compara 9.549e-4 con 3.413e-4. El tiempo no se usa como resultado portátil.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src/evaluacion.py, 03_evaluacion/evaluacion_meta.json y 04_final/figuras/reconstrucciones.png. Las métricas se calculan contra coins limpia con data_range=1.0.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03_evaluacion/resultados.csv. La fila resaltada corresponde al mayor PSNR entre las reconstrucciones de la entrada ruidosa.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03_evaluacion/resultados.csv. El máximo para la entrada ruidosa es T0=4 con 26.12 dB; la línea base es 22.09 dB.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Fuentes: AUDITORIA.md, salida de pytest, notebooks ejecutados y docs/estado_plataformas.md. No atribuir una ejecución completa de los cuatro bloques a Kaggle.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70d7d4f0664a2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228972813d04b34" /><Relationship Type="http://schemas.openxmlformats.org/officeDocument/2006/relationships/slideLayout" Target="/ppt/slideLayouts/slideLayout1.xml" Id="R686ddfea99c3428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86ddfea99c3428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28d66e2c684ce1" /><Relationship Type="http://schemas.openxmlformats.org/officeDocument/2006/relationships/image" Target="/ppt/media/image.png" Id="R6299b8ab0f8f46cd" /><Relationship Type="http://schemas.openxmlformats.org/officeDocument/2006/relationships/notesSlide" Target="/ppt/notesSlides/notesSlide1.xml" Id="R0a0baf7caf4542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56e42899de43d0" /><Relationship Type="http://schemas.openxmlformats.org/officeDocument/2006/relationships/image" Target="/ppt/media/image2.png" Id="Rea01dfd8f4e54ae8" /><Relationship Type="http://schemas.openxmlformats.org/officeDocument/2006/relationships/notesSlide" Target="/ppt/notesSlides/notesSlide2.xml" Id="Rf71aa6dafd91496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477fb4fd7d48bd" /><Relationship Type="http://schemas.openxmlformats.org/officeDocument/2006/relationships/image" Target="/ppt/media/image3.png" Id="R11da30988b1b4f18" /><Relationship Type="http://schemas.openxmlformats.org/officeDocument/2006/relationships/notesSlide" Target="/ppt/notesSlides/notesSlide3.xml" Id="Rce5bb72b6bdf43e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8321ec7cc74a4d" /><Relationship Type="http://schemas.openxmlformats.org/officeDocument/2006/relationships/chart" Target="/ppt/slides/charts/chart1.xml" Id="Rc01f662e149d4b50" /><Relationship Type="http://schemas.openxmlformats.org/officeDocument/2006/relationships/notesSlide" Target="/ppt/notesSlides/notesSlide4.xml" Id="R2e1df7f4c7ff4f9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da0ae2caf44336" /><Relationship Type="http://schemas.openxmlformats.org/officeDocument/2006/relationships/image" Target="/ppt/media/image4.png" Id="R14b4041cea5849fd" /><Relationship Type="http://schemas.openxmlformats.org/officeDocument/2006/relationships/notesSlide" Target="/ppt/notesSlides/notesSlide5.xml" Id="Rc4be26819e8c409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56eba5e24a4aa4" /><Relationship Type="http://schemas.openxmlformats.org/officeDocument/2006/relationships/notesSlide" Target="/ppt/notesSlides/notesSlide6.xml" Id="Rb949c90ffcd244d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ff7d76ef4a40af" /><Relationship Type="http://schemas.openxmlformats.org/officeDocument/2006/relationships/chart" Target="/ppt/slides/charts/chart2.xml" Id="R968c919d4a554a74" /><Relationship Type="http://schemas.openxmlformats.org/officeDocument/2006/relationships/notesSlide" Target="/ppt/notesSlides/notesSlide7.xml" Id="Rb686e1fd5005457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97abbe820b41b2" /><Relationship Type="http://schemas.openxmlformats.org/officeDocument/2006/relationships/notesSlide" Target="/ppt/notesSlides/notesSlide8.xml" Id="Rf433abf2298347b6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MSE de entrenamiento</c:v>
          </c:tx>
          <c:spPr>
            <a:ln xmlns:a="http://schemas.openxmlformats.org/drawingml/2006/main" w="28575">
              <a:solidFill>
                <a:srgbClr val="1F5A8A"/>
              </a:solidFill>
            </a:ln>
          </c:spPr>
          <c:marker>
            <c:symbol val="circle"/>
            <c:size val="8"/>
            <c:spPr>
              <a:solidFill xmlns:a="http://schemas.openxmlformats.org/drawingml/2006/main">
                <a:srgbClr val="1F5A8A"/>
              </a:solidFill>
            </c:spPr>
          </c:marker>
          <c:cat>
            <c:numRef>
              <c:f>'Chart Data'!$A$2:$A$9</c:f>
              <c:numCache>
                <c:formatCode>General</c:formatCod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numCache>
            </c:numRef>
          </c:cat>
          <c:val>
            <c:numRef>
              <c:f>'Chart Data'!$B$2:$B$9</c:f>
              <c:numCache>
                <c:formatCode>0.00000</c:formatCode>
                <c:ptCount val="8"/>
                <c:pt idx="0">
                  <c:v>0.0005604473</c:v>
                </c:pt>
                <c:pt idx="1">
                  <c:v>0.0004229563</c:v>
                </c:pt>
                <c:pt idx="2">
                  <c:v>0.0003796942</c:v>
                </c:pt>
                <c:pt idx="3">
                  <c:v>0.0003638848</c:v>
                </c:pt>
                <c:pt idx="4">
                  <c:v>0.0003532115</c:v>
                </c:pt>
                <c:pt idx="5">
                  <c:v>0.0003472041</c:v>
                </c:pt>
                <c:pt idx="6">
                  <c:v>0.0003399084</c:v>
                </c:pt>
                <c:pt idx="7">
                  <c:v>0.000338206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"/>
                    <a:ea typeface="Arial"/>
                    <a:cs typeface="Arial"/>
                  </a:rPr>
                  <a:t>Iteración K-SVD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CE2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16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0.0006"/>
          <c:min val="0.0003"/>
        </c:scaling>
        <c:delete val="0"/>
        <c:axPos val="l"/>
        <c:majorGridlines>
          <c:spPr>
            <a:ln xmlns:a="http://schemas.openxmlformats.org/drawingml/2006/main" w="9525">
              <a:solidFill>
                <a:srgbClr val="D4DCE2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"/>
                    <a:ea typeface="Arial"/>
                    <a:cs typeface="Arial"/>
                  </a:rPr>
                  <a:t>MSE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</c:title>
        <c:numFmt formatCode="0.000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3616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5E-05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4DCE2"/>
          </a:solidFill>
        </a:ln>
      </c:spPr>
    </c:plotArea>
    <c:plotVisOnly val="1"/>
  </c:chart>
  <c:spPr>
    <a:solidFill xmlns:a="http://schemas.openxmlformats.org/drawingml/2006/main">
      <a:srgbClr val="F7F6F2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entrada limpia</c:v>
          </c:tx>
          <c:spPr>
            <a:ln xmlns:a="http://schemas.openxmlformats.org/drawingml/2006/main" w="28575">
              <a:solidFill>
                <a:srgbClr val="1F5A8A"/>
              </a:solidFill>
            </a:ln>
          </c:spPr>
          <c:marker>
            <c:symbol val="circle"/>
            <c:size val="9"/>
            <c:spPr>
              <a:solidFill xmlns:a="http://schemas.openxmlformats.org/drawingml/2006/main">
                <a:srgbClr val="1F5A8A"/>
              </a:solidFill>
            </c:spPr>
          </c:marker>
          <c:cat>
            <c:numRef>
              <c:f>'Chart Data'!$A$2:$A$4</c:f>
              <c:numCache>
                <c:formatCode>General</c:formatCod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numCache>
            </c:numRef>
          </c:cat>
          <c:val>
            <c:numRef>
              <c:f>'Chart Data'!$B$2:$B$4</c:f>
              <c:numCache>
                <c:formatCode>0</c:formatCode>
                <c:ptCount val="3"/>
                <c:pt idx="0">
                  <c:v>26.71299</c:v>
                </c:pt>
                <c:pt idx="1">
                  <c:v>28.982603</c:v>
                </c:pt>
                <c:pt idx="2">
                  <c:v>31.430905</c:v>
                </c:pt>
              </c:numCache>
            </c:numRef>
          </c:val>
          <c:smooth val="0"/>
        </c:ser>
        <c:ser>
          <c:idx val="1"/>
          <c:order val="1"/>
          <c:tx>
            <c:v>entrada ruidosa</c:v>
          </c:tx>
          <c:spPr>
            <a:ln xmlns:a="http://schemas.openxmlformats.org/drawingml/2006/main" w="28575">
              <a:solidFill>
                <a:srgbClr val="D76F3E"/>
              </a:solidFill>
            </a:ln>
          </c:spPr>
          <c:marker>
            <c:symbol val="circle"/>
            <c:size val="9"/>
            <c:spPr>
              <a:solidFill xmlns:a="http://schemas.openxmlformats.org/drawingml/2006/main">
                <a:srgbClr val="D76F3E"/>
              </a:solidFill>
            </c:spPr>
          </c:marker>
          <c:cat>
            <c:numRef>
              <c:f>'Chart Data'!$C$2:$C$4</c:f>
              <c:numCache>
                <c:formatCode>General</c:formatCod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numCache>
            </c:numRef>
          </c:cat>
          <c:val>
            <c:numRef>
              <c:f>'Chart Data'!$D$2:$D$4</c:f>
              <c:numCache>
                <c:formatCode>0</c:formatCode>
                <c:ptCount val="3"/>
                <c:pt idx="0">
                  <c:v>25.553827</c:v>
                </c:pt>
                <c:pt idx="1">
                  <c:v>26.121743</c:v>
                </c:pt>
                <c:pt idx="2">
                  <c:v>25.638454</c:v>
                </c:pt>
              </c:numCache>
            </c:numRef>
          </c:val>
          <c:smooth val="0"/>
        </c:ser>
        <c:ser>
          <c:idx val="2"/>
          <c:order val="2"/>
          <c:tx>
            <c:v>ruidosa sin procesar</c:v>
          </c:tx>
          <c:spPr>
            <a:ln xmlns:a="http://schemas.openxmlformats.org/drawingml/2006/main" w="19050">
              <a:solidFill>
                <a:srgbClr val="53616E"/>
              </a:solidFill>
            </a:ln>
          </c:spPr>
          <c:marker>
            <c:symbol val="none"/>
          </c:marker>
          <c:cat>
            <c:numRef>
              <c:f>'Chart Data'!$E$2:$E$4</c:f>
              <c:numCache>
                <c:formatCode>General</c:formatCode>
                <c:ptCount val="3"/>
                <c:pt idx="0">
                  <c:v>2</c:v>
                </c:pt>
                <c:pt idx="1">
                  <c:v>4</c:v>
                </c:pt>
                <c:pt idx="2">
                  <c:v>8</c:v>
                </c:pt>
              </c:numCache>
            </c:numRef>
          </c:cat>
          <c:val>
            <c:numRef>
              <c:f>'Chart Data'!$F$2:$F$4</c:f>
              <c:numCache>
                <c:formatCode>0</c:formatCode>
                <c:ptCount val="3"/>
                <c:pt idx="0">
                  <c:v>22.09088</c:v>
                </c:pt>
                <c:pt idx="1">
                  <c:v>22.09088</c:v>
                </c:pt>
                <c:pt idx="2">
                  <c:v>22.09088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"/>
                    <a:ea typeface="Arial"/>
                    <a:cs typeface="Arial"/>
                  </a:rPr>
                  <a:t>T0 máximo por parche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CE2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3616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32"/>
          <c:min val="21"/>
        </c:scaling>
        <c:delete val="0"/>
        <c:axPos val="l"/>
        <c:majorGridlines>
          <c:spPr>
            <a:ln xmlns:a="http://schemas.openxmlformats.org/drawingml/2006/main" w="9525">
              <a:solidFill>
                <a:srgbClr val="D4DCE2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rial"/>
                    <a:ea typeface="Arial"/>
                    <a:cs typeface="Arial"/>
                  </a:rPr>
                  <a:t>PSNR dB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3616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"/>
      </c:valAx>
      <c:spPr>
        <a:solidFill xmlns:a="http://schemas.openxmlformats.org/drawingml/2006/main">
          <a:srgbClr val="FFFFFF"/>
        </a:solidFill>
        <a:ln xmlns:a="http://schemas.openxmlformats.org/drawingml/2006/main" w="9525">
          <a:solidFill>
            <a:srgbClr val="D4DCE2"/>
          </a:solidFill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>
              <a:solidFill>
                <a:srgbClr val="17212B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7F6F2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E4472F-3416-41EB-9EAE-319925E04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52387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K-SVD para reconstrucción y eliminación de ruido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961A42-7C15-45A0-95C7-9DB091368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0350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1F5A8A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F5A8A"/>
                </a:solidFill>
                <a:latin typeface="Arial"/>
                <a:ea typeface="Arial"/>
                <a:cs typeface="Arial"/>
              </a:rPr>
              <a:t>Implementación, resultados y auditoría final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94048F-51EC-4A21-AF74-72709109B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1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16E"/>
                </a:solidFill>
                <a:latin typeface="Arial"/>
                <a:ea typeface="Arial"/>
                <a:cs typeface="Arial"/>
              </a:rPr>
              <a:t>Sarah Vásquez M.</a:t>
            </a:r>
          </a:p>
          <a:p xmlns:a="http://schemas.openxmlformats.org/drawingml/2006/main">
            <a:pPr algn="l">
              <a:defRPr sz="1500" b="0">
                <a:solidFill>
                  <a:srgbClr val="53616E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16E"/>
                </a:solidFill>
                <a:latin typeface="Arial"/>
                <a:ea typeface="Arial"/>
                <a:cs typeface="Arial"/>
              </a:rPr>
              <a:t>Matemáticas Computacionales · 3 de octubre de 2026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99b8ab0f8f46cd"/>
          <a:stretch xmlns:a="http://schemas.openxmlformats.org/drawingml/2006/main"/>
        </p:blipFill>
        <p:spPr>
          <a:xfrm xmlns:a="http://schemas.openxmlformats.org/drawingml/2006/main">
            <a:off x="6191250" y="1036072"/>
            <a:ext cx="5334000" cy="305230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286C27-DD1D-46DD-936B-7515D652E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686300"/>
            <a:ext cx="209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D76F3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D76F3E"/>
                </a:solidFill>
                <a:latin typeface="Arial"/>
                <a:ea typeface="Arial"/>
                <a:cs typeface="Arial"/>
              </a:rPr>
              <a:t>26.12 dB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269138-C41A-4163-9A73-7409610B9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525780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mejor caso ruidoso · T0=4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A27DC9-A61E-4EDB-A9E5-6D5238B0A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5667375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F5A8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F5A8A"/>
                </a:solidFill>
                <a:latin typeface="Arial"/>
                <a:ea typeface="Arial"/>
                <a:cs typeface="Arial"/>
              </a:rPr>
              <a:t>+4.03 dB frente a la entrada</a:t>
            </a:r>
          </a:p>
        </p:txBody>
      </p:sp>
    </p:spTree>
    <p:extLst>
      <p:ext uri="{BB962C8B-B14F-4D97-AF65-F5344CB8AC3E}">
        <p14:creationId xmlns:p14="http://schemas.microsoft.com/office/powerpoint/2010/main" val="14713038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E4BFFE-8BD2-4573-B4D8-EC04DF79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1000"/>
            <a:ext cx="1009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Datos y contrato de parches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C5A219-D80A-4457-9BBB-B24C16868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1910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D76F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D76F3E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AC0798-E118-4CF5-9656-84A36E7D7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579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3616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3616E"/>
                </a:solidFill>
                <a:latin typeface="Arial"/>
                <a:ea typeface="Arial"/>
                <a:cs typeface="Arial"/>
              </a:rPr>
              <a:t>Matemáticas Computacionales · K-SVD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54F79F-E2E6-48BB-B960-852A1C4C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38250"/>
            <a:ext cx="44767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• camera 256×256 para aprender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• coins 128×128 para probar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• parches 8×8 · paso 4 · orden 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• 1500 muestras sin reemplazo · RNG 42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• centrado por media · sin normalizar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• ensamblado por promedio · sin clipping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01dfd8f4e54ae8"/>
          <a:stretch xmlns:a="http://schemas.openxmlformats.org/drawingml/2006/main"/>
        </p:blipFill>
        <p:spPr>
          <a:xfrm xmlns:a="http://schemas.openxmlformats.org/drawingml/2006/main">
            <a:off x="5429250" y="1432030"/>
            <a:ext cx="5905500" cy="336529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AB65B0-6CC0-4FD3-B446-AC961EBB5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5095875"/>
            <a:ext cx="571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F5A8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F5A8A"/>
                </a:solidFill>
                <a:latin typeface="Arial"/>
                <a:ea typeface="Arial"/>
                <a:cs typeface="Arial"/>
              </a:rPr>
              <a:t>Los cuatro arrays coinciden elemento a elemento con el paquete de Sarah.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2F891E-4C49-4803-8703-CE9B0D6E6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5715000"/>
            <a:ext cx="571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53616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616E"/>
                </a:solidFill>
                <a:latin typeface="Arial"/>
                <a:ea typeface="Arial"/>
                <a:cs typeface="Arial"/>
              </a:rPr>
              <a:t>Error máximo extraer → ensamblar: 1.11×10⁻¹⁶</a:t>
            </a:r>
          </a:p>
        </p:txBody>
      </p:sp>
    </p:spTree>
    <p:extLst>
      <p:ext uri="{BB962C8B-B14F-4D97-AF65-F5344CB8AC3E}">
        <p14:creationId xmlns:p14="http://schemas.microsoft.com/office/powerpoint/2010/main" val="163084214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57FF85-8839-41CF-B044-56EA725A8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1000"/>
            <a:ext cx="1009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Del parche al diccionario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2EE78B-5F87-4F62-84C5-486784E8A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1910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D76F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D76F3E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D5E4CE-A329-424A-A5C7-0D54D4B1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579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3616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3616E"/>
                </a:solidFill>
                <a:latin typeface="Arial"/>
                <a:ea typeface="Arial"/>
                <a:cs typeface="Arial"/>
              </a:rPr>
              <a:t>Matemáticas Computacionales · K-SVD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43666A-3493-4F10-9658-4EF0CB584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181100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F5A8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F5A8A"/>
                </a:solidFill>
                <a:latin typeface="Arial"/>
                <a:ea typeface="Arial"/>
                <a:cs typeface="Arial"/>
              </a:rPr>
              <a:t>Imagen  →  parches centrados  →  OMP  →  actualización K-SVD  →  promedio de solapamientos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59CD2E-FC4D-4AF3-86E4-F6A6516FF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52650"/>
            <a:ext cx="1809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OMP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196397-795F-470B-82AB-213096B2C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19375"/>
            <a:ext cx="3810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a lo más T átomos</a:t>
            </a:r>
          </a:p>
          <a:p xmlns:a="http://schemas.openxmlformats.org/drawingml/2006/main">
            <a:pPr algn="l"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sklearn.linear_model.orthogonal_mp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A73C5E-2207-4CE5-9E45-BBF52729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67125"/>
            <a:ext cx="4000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Actualización del átomo j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533BD7-3D80-46E6-8066-CBD59AC1B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10050"/>
            <a:ext cx="4000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Eⱼ = Xω − DAω + dⱼaⱼ</a:t>
            </a:r>
          </a:p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Eⱼ = UΣVᵀ</a:t>
            </a:r>
          </a:p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dⱼ ← u₁   ·   aⱼ,ω ← σ₁v₁ᵀ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da30988b1b4f18"/>
          <a:stretch xmlns:a="http://schemas.openxmlformats.org/drawingml/2006/main"/>
        </p:blipFill>
        <p:spPr>
          <a:xfrm xmlns:a="http://schemas.openxmlformats.org/drawingml/2006/main">
            <a:off x="5095875" y="2631440"/>
            <a:ext cx="6334125" cy="167132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EB919C-2F7C-4B6A-BF86-8CE378620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067300"/>
            <a:ext cx="609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D76F3E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D76F3E"/>
                </a:solidFill>
                <a:latin typeface="Arial"/>
                <a:ea typeface="Arial"/>
                <a:cs typeface="Arial"/>
              </a:rPr>
              <a:t>K=128 átomos · dimensión 64 · 8 iteraciones · T=4 · CPU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44617F-BE15-41E5-979E-DD5AD62D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619750"/>
            <a:ext cx="609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53616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616E"/>
                </a:solidFill>
                <a:latin typeface="Arial"/>
                <a:ea typeface="Arial"/>
                <a:cs typeface="Arial"/>
              </a:rPr>
              <a:t>La SVD se aplica al residual restringido de las señales que usan el átomo.</a:t>
            </a:r>
          </a:p>
        </p:txBody>
      </p:sp>
    </p:spTree>
    <p:extLst>
      <p:ext uri="{BB962C8B-B14F-4D97-AF65-F5344CB8AC3E}">
        <p14:creationId xmlns:p14="http://schemas.microsoft.com/office/powerpoint/2010/main" val="112744036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B58D82-ACBC-4F80-AEEA-12F28C440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1000"/>
            <a:ext cx="1009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El entrenamiento redujo el error de representación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0C2F77-D264-4686-8669-E9CFEF457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1910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D76F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D76F3E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FA79F4-E000-45CB-AA48-645C27CC9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579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3616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3616E"/>
                </a:solidFill>
                <a:latin typeface="Arial"/>
                <a:ea typeface="Arial"/>
                <a:cs typeface="Arial"/>
              </a:rPr>
              <a:t>Matemáticas Computacionales · K-SVD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888FC6-926A-4379-A5B8-011EC299D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6210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9.55×10⁻⁴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F7070A-E9E2-4CD8-B431-04D43A11E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145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16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616E"/>
                </a:solidFill>
                <a:latin typeface="Arial"/>
                <a:ea typeface="Arial"/>
                <a:cs typeface="Arial"/>
              </a:rPr>
              <a:t>diccionario inicial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9B4D1C-89B1-41C3-A0B1-1714BD2DA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7180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D76F3E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D76F3E"/>
                </a:solidFill>
                <a:latin typeface="Arial"/>
                <a:ea typeface="Arial"/>
                <a:cs typeface="Arial"/>
              </a:rPr>
              <a:t>3.41×10⁻⁴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95A5BB-AEA2-44E6-93EE-D7F97E1C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24250"/>
            <a:ext cx="314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16E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616E"/>
                </a:solidFill>
                <a:latin typeface="Arial"/>
                <a:ea typeface="Arial"/>
                <a:cs typeface="Arial"/>
              </a:rPr>
              <a:t>diccionario final recodificado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55DBDA-5425-4740-A0DB-D4CA11772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5295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F5A8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F5A8A"/>
                </a:solidFill>
                <a:latin typeface="Arial"/>
                <a:ea typeface="Arial"/>
                <a:cs typeface="Arial"/>
              </a:rPr>
              <a:t>64% menos MSE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AFB534-C612-4F93-967E-E03E58861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19700"/>
            <a:ext cx="295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Sin contingencia</a:t>
            </a:r>
          </a:p>
          <a:p xmlns:a="http://schemas.openxmlformats.org/drawingml/2006/main">
            <a:pPr algn="l"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32 pruebas aprobadas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4095750" y="1352550"/>
          <a:ext xmlns:a="http://schemas.openxmlformats.org/drawingml/2006/main" cx="7191375" cy="4476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01f662e149d4b50"/>
          </a:graphicData>
        </a:graphic>
      </p:graphicFrame>
    </p:spTree>
    <p:extLst>
      <p:ext uri="{BB962C8B-B14F-4D97-AF65-F5344CB8AC3E}">
        <p14:creationId xmlns:p14="http://schemas.microsoft.com/office/powerpoint/2010/main" val="181778933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8503E2-74D6-4FAC-BB58-885A6BA3B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1000"/>
            <a:ext cx="1009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Protocolo de evaluación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9CDF21-868F-4DBF-9528-4BD8FD9A6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1910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D76F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D76F3E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D745F3-523A-4174-8F64-E28A28580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579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3616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3616E"/>
                </a:solidFill>
                <a:latin typeface="Arial"/>
                <a:ea typeface="Arial"/>
                <a:cs typeface="Arial"/>
              </a:rPr>
              <a:t>Matemáticas Computacionales · K-SVD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C40A49-8481-4639-ADBB-A2DCF586F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123950"/>
            <a:ext cx="10429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F5A8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F5A8A"/>
                </a:solidFill>
                <a:latin typeface="Arial"/>
                <a:ea typeface="Arial"/>
                <a:cs typeface="Arial"/>
              </a:rPr>
              <a:t>Una sola imagen de prueba · una sola realización de ruido · misma referencia limpia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b4041cea5849fd"/>
          <a:stretch xmlns:a="http://schemas.openxmlformats.org/drawingml/2006/main"/>
        </p:blipFill>
        <p:spPr>
          <a:xfrm xmlns:a="http://schemas.openxmlformats.org/drawingml/2006/main">
            <a:off x="2850178" y="1695450"/>
            <a:ext cx="6491644" cy="3714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D1255C-A7CC-4396-B92B-23BD7150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6007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σ=20/255 · RNG 44 · sin clipping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FFCE2A-905B-472C-B2E1-E8ADBF369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6007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T0 ∈ {2, 4, 8}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4C1672-AA0E-4912-8CD4-D8DC7361D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560070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57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MSE · PSNR · actividad · tiempo</a:t>
            </a:r>
          </a:p>
        </p:txBody>
      </p:sp>
    </p:spTree>
    <p:extLst>
      <p:ext uri="{BB962C8B-B14F-4D97-AF65-F5344CB8AC3E}">
        <p14:creationId xmlns:p14="http://schemas.microsoft.com/office/powerpoint/2010/main" val="17710071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EC83BF-1C95-4DAD-97E5-6F436823A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1000"/>
            <a:ext cx="1009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Resultados medidos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E20532-6558-4A98-A9B2-DAF9B7F4B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1910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D76F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D76F3E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76201B-D9AF-47F8-A8F3-11581CBC3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579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3616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3616E"/>
                </a:solidFill>
                <a:latin typeface="Arial"/>
                <a:ea typeface="Arial"/>
                <a:cs typeface="Arial"/>
              </a:rPr>
              <a:t>Matemáticas Computacionales · K-SVD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66750" y="1381125"/>
          <a:ext xmlns:a="http://schemas.openxmlformats.org/drawingml/2006/main" cx="7905750" cy="4095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143250"/>
                <a:gridCol w="1143000"/>
                <a:gridCol w="1809750"/>
                <a:gridCol w="1809750"/>
              </a:tblGrid>
              <a:tr h="511969">
                <a:tc>
                  <a:txBody>
                    <a:bodyPr/>
                    <a:lstStyle/>
                    <a:p>
                      <a:pPr algn="l"/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Entrada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T0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MSE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PSNR dB</a:t>
                      </a:r>
                    </a:p>
                  </a:txBody>
                  <a:tcPr marL="91440" marR="91440" marT="45720" marB="45720">
                    <a:solidFill>
                      <a:srgbClr val="17324D"/>
                    </a:solidFill>
                  </a:tcPr>
                </a:tc>
              </a:tr>
              <a:tr h="511969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7212B"/>
                          </a:solidFill>
                          <a:latin typeface="Arial"/>
                          <a:ea typeface="Arial"/>
                          <a:cs typeface="Arial"/>
                        </a:rPr>
                        <a:t>ruidosa sin procesar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7212B"/>
                          </a:solidFill>
                          <a:latin typeface="Arial"/>
                          <a:ea typeface="Arial"/>
                          <a:cs typeface="Arial"/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7212B"/>
                          </a:solidFill>
                          <a:latin typeface="Arial"/>
                          <a:ea typeface="Arial"/>
                          <a:cs typeface="Arial"/>
                        </a:rPr>
                        <a:t>0.006179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7212B"/>
                          </a:solidFill>
                          <a:latin typeface="Arial"/>
                          <a:ea typeface="Arial"/>
                          <a:cs typeface="Arial"/>
                        </a:rPr>
                        <a:t>22.09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11969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7212B"/>
                          </a:solidFill>
                          <a:latin typeface="Arial"/>
                          <a:ea typeface="Arial"/>
                          <a:cs typeface="Arial"/>
                        </a:rPr>
                        <a:t>limpia</a:t>
                      </a:r>
                    </a:p>
                  </a:txBody>
                  <a:tcPr marL="91440" marR="91440" marT="45720" marB="45720">
                    <a:solidFill>
                      <a:srgbClr val="E7F0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721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E7F0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7212B"/>
                          </a:solidFill>
                          <a:latin typeface="Arial"/>
                          <a:ea typeface="Arial"/>
                          <a:cs typeface="Arial"/>
                        </a:rPr>
                        <a:t>0.002132</a:t>
                      </a:r>
                    </a:p>
                  </a:txBody>
                  <a:tcPr marL="91440" marR="91440" marT="45720" marB="45720">
                    <a:solidFill>
                      <a:srgbClr val="E7F0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7212B"/>
                          </a:solidFill>
                          <a:latin typeface="Arial"/>
                          <a:ea typeface="Arial"/>
                          <a:cs typeface="Arial"/>
                        </a:rPr>
                        <a:t>26.71</a:t>
                      </a:r>
                    </a:p>
                  </a:txBody>
                  <a:tcPr marL="91440" marR="91440" marT="45720" marB="45720">
                    <a:solidFill>
                      <a:srgbClr val="E7F0F6"/>
                    </a:solidFill>
                  </a:tcPr>
                </a:tc>
              </a:tr>
              <a:tr h="511969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7212B"/>
                          </a:solidFill>
                          <a:latin typeface="Arial"/>
                          <a:ea typeface="Arial"/>
                          <a:cs typeface="Arial"/>
                        </a:rPr>
                        <a:t>limpia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7212B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7212B"/>
                          </a:solidFill>
                          <a:latin typeface="Arial"/>
                          <a:ea typeface="Arial"/>
                          <a:cs typeface="Arial"/>
                        </a:rPr>
                        <a:t>0.001264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7212B"/>
                          </a:solidFill>
                          <a:latin typeface="Arial"/>
                          <a:ea typeface="Arial"/>
                          <a:cs typeface="Arial"/>
                        </a:rPr>
                        <a:t>28.98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11969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7212B"/>
                          </a:solidFill>
                          <a:latin typeface="Arial"/>
                          <a:ea typeface="Arial"/>
                          <a:cs typeface="Arial"/>
                        </a:rPr>
                        <a:t>limpia</a:t>
                      </a:r>
                    </a:p>
                  </a:txBody>
                  <a:tcPr marL="91440" marR="91440" marT="45720" marB="45720">
                    <a:solidFill>
                      <a:srgbClr val="E7F0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7212B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91440" marR="91440" marT="45720" marB="45720">
                    <a:solidFill>
                      <a:srgbClr val="E7F0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7212B"/>
                          </a:solidFill>
                          <a:latin typeface="Arial"/>
                          <a:ea typeface="Arial"/>
                          <a:cs typeface="Arial"/>
                        </a:rPr>
                        <a:t>0.000719</a:t>
                      </a:r>
                    </a:p>
                  </a:txBody>
                  <a:tcPr marL="91440" marR="91440" marT="45720" marB="45720">
                    <a:solidFill>
                      <a:srgbClr val="E7F0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7212B"/>
                          </a:solidFill>
                          <a:latin typeface="Arial"/>
                          <a:ea typeface="Arial"/>
                          <a:cs typeface="Arial"/>
                        </a:rPr>
                        <a:t>31.43</a:t>
                      </a:r>
                    </a:p>
                  </a:txBody>
                  <a:tcPr marL="91440" marR="91440" marT="45720" marB="45720">
                    <a:solidFill>
                      <a:srgbClr val="E7F0F6"/>
                    </a:solidFill>
                  </a:tcPr>
                </a:tc>
              </a:tr>
              <a:tr h="511969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7212B"/>
                          </a:solidFill>
                          <a:latin typeface="Arial"/>
                          <a:ea typeface="Arial"/>
                          <a:cs typeface="Arial"/>
                        </a:rPr>
                        <a:t>ruidosa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721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7212B"/>
                          </a:solidFill>
                          <a:latin typeface="Arial"/>
                          <a:ea typeface="Arial"/>
                          <a:cs typeface="Arial"/>
                        </a:rPr>
                        <a:t>0.002784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7212B"/>
                          </a:solidFill>
                          <a:latin typeface="Arial"/>
                          <a:ea typeface="Arial"/>
                          <a:cs typeface="Arial"/>
                        </a:rPr>
                        <a:t>25.55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11969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17212B"/>
                          </a:solidFill>
                          <a:latin typeface="Arial"/>
                          <a:ea typeface="Arial"/>
                          <a:cs typeface="Arial"/>
                        </a:rPr>
                        <a:t>ruidosa</a:t>
                      </a:r>
                    </a:p>
                  </a:txBody>
                  <a:tcPr marL="91440" marR="91440" marT="45720" marB="45720">
                    <a:solidFill>
                      <a:srgbClr val="F7E5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17212B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F7E5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17212B"/>
                          </a:solidFill>
                          <a:latin typeface="Arial"/>
                          <a:ea typeface="Arial"/>
                          <a:cs typeface="Arial"/>
                        </a:rPr>
                        <a:t>0.002442</a:t>
                      </a:r>
                    </a:p>
                  </a:txBody>
                  <a:tcPr marL="91440" marR="91440" marT="45720" marB="45720">
                    <a:solidFill>
                      <a:srgbClr val="F7E5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17212B"/>
                          </a:solidFill>
                          <a:latin typeface="Arial"/>
                          <a:ea typeface="Arial"/>
                          <a:cs typeface="Arial"/>
                        </a:rPr>
                        <a:t>26.12</a:t>
                      </a:r>
                    </a:p>
                  </a:txBody>
                  <a:tcPr marL="91440" marR="91440" marT="45720" marB="45720">
                    <a:solidFill>
                      <a:srgbClr val="F7E5DC"/>
                    </a:solidFill>
                  </a:tcPr>
                </a:tc>
              </a:tr>
              <a:tr h="511969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17212B"/>
                          </a:solidFill>
                          <a:latin typeface="Arial"/>
                          <a:ea typeface="Arial"/>
                          <a:cs typeface="Arial"/>
                        </a:rPr>
                        <a:t>ruidosa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7212B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7212B"/>
                          </a:solidFill>
                          <a:latin typeface="Arial"/>
                          <a:ea typeface="Arial"/>
                          <a:cs typeface="Arial"/>
                        </a:rPr>
                        <a:t>0.002730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17212B"/>
                          </a:solidFill>
                          <a:latin typeface="Arial"/>
                          <a:ea typeface="Arial"/>
                          <a:cs typeface="Arial"/>
                        </a:rPr>
                        <a:t>25.64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984D4A-A2AC-47F3-99EE-83645AE98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866900"/>
            <a:ext cx="2095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D76F3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D76F3E"/>
                </a:solidFill>
                <a:latin typeface="Arial"/>
                <a:ea typeface="Arial"/>
                <a:cs typeface="Arial"/>
              </a:rPr>
              <a:t>T0=4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ABE19D-F08B-4906-A961-FB5FBECDC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457450"/>
            <a:ext cx="2095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mejor caso</a:t>
            </a:r>
          </a:p>
          <a:p xmlns:a="http://schemas.openxmlformats.org/drawingml/2006/main">
            <a:pPr algn="ctr">
              <a:defRPr sz="18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ruidoso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BBDA1A-EFC6-4951-903D-2F25E9048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5242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F5A8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F5A8A"/>
                </a:solidFill>
                <a:latin typeface="Arial"/>
                <a:ea typeface="Arial"/>
                <a:cs typeface="Arial"/>
              </a:rPr>
              <a:t>26.12 dB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79220E-C236-4F20-B47F-4E24E204F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191000"/>
            <a:ext cx="2095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+4.03 dB</a:t>
            </a:r>
          </a:p>
          <a:p xmlns:a="http://schemas.openxmlformats.org/drawingml/2006/main">
            <a:pPr algn="ctr">
              <a:defRPr sz="1725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sobre la entrada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B885DB-42AD-43F0-8F01-D3400DD41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43575"/>
            <a:ext cx="790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3616E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3616E"/>
                </a:solidFill>
                <a:latin typeface="Arial"/>
                <a:ea typeface="Arial"/>
                <a:cs typeface="Arial"/>
              </a:rPr>
              <a:t>Tabla editable en PowerPoint</a:t>
            </a:r>
          </a:p>
        </p:txBody>
      </p:sp>
    </p:spTree>
    <p:extLst>
      <p:ext uri="{BB962C8B-B14F-4D97-AF65-F5344CB8AC3E}">
        <p14:creationId xmlns:p14="http://schemas.microsoft.com/office/powerpoint/2010/main" val="70587171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16FB2F-7C2F-498B-B3BA-D6FB6E9F9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1000"/>
            <a:ext cx="1009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T0 controla el compromiso entre detalle y ruido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5AA00C-8B18-4A12-A651-8B378C46E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1910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D76F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D76F3E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406EA0-BD60-4244-8538-C8EDCF26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579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3616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3616E"/>
                </a:solidFill>
                <a:latin typeface="Arial"/>
                <a:ea typeface="Arial"/>
                <a:cs typeface="Arial"/>
              </a:rPr>
              <a:t>Matemáticas Computacionales · K-SVD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DA844A-2F50-45EA-9F8A-C131163D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811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F5A8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F5A8A"/>
                </a:solidFill>
                <a:latin typeface="Arial"/>
                <a:ea typeface="Arial"/>
                <a:cs typeface="Arial"/>
              </a:rPr>
              <a:t>Imagen limpia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6AAA91-06F8-4693-B41F-53E939FF4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9775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más átomos → mejor representación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7346F5-68D7-44F4-8823-422E5FA37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480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D76F3E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D76F3E"/>
                </a:solidFill>
                <a:latin typeface="Arial"/>
                <a:ea typeface="Arial"/>
                <a:cs typeface="Arial"/>
              </a:rPr>
              <a:t>Imagen ruidosa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6A394C-9B1D-4CF3-89DB-583AD9E3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76625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máximo en T0=4</a:t>
            </a:r>
          </a:p>
          <a:p xmlns:a="http://schemas.openxmlformats.org/drawingml/2006/main">
            <a:pPr algn="l">
              <a:defRPr sz="150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T0=8 también ajusta ruido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66EA06-1482-4400-BBB4-C52229799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05375"/>
            <a:ext cx="3143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16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6E"/>
                </a:solidFill>
                <a:latin typeface="Arial"/>
                <a:ea typeface="Arial"/>
                <a:cs typeface="Arial"/>
              </a:rPr>
              <a:t>La explicación es interpretación; el máximo sí es una medición.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4000500" y="1371600"/>
          <a:ext xmlns:a="http://schemas.openxmlformats.org/drawingml/2006/main" cx="7286625" cy="4524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68c919d4a554a74"/>
          </a:graphicData>
        </a:graphic>
      </p:graphicFrame>
    </p:spTree>
    <p:extLst>
      <p:ext uri="{BB962C8B-B14F-4D97-AF65-F5344CB8AC3E}">
        <p14:creationId xmlns:p14="http://schemas.microsoft.com/office/powerpoint/2010/main" val="25911848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7DFC11-048E-4AA8-899B-14980A831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1000"/>
            <a:ext cx="1009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Conclusiones y alcance de la evidencia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E6FE78-AF2B-4975-93DD-A7AEDC87B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1910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D76F3E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D76F3E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408515-0727-4870-9274-D0E7375B0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579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3616E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3616E"/>
                </a:solidFill>
                <a:latin typeface="Arial"/>
                <a:ea typeface="Arial"/>
                <a:cs typeface="Arial"/>
              </a:rPr>
              <a:t>Matemáticas Computacionales · K-SVD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AE2A36-A71E-4CDB-915E-639238339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D76F3E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76F3E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14E7AA-DC70-4938-97A1-CDF85F0B6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314450"/>
            <a:ext cx="5715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K-SVD mejoró la entrada ruidosa en 4.03 dB para este caso.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3F3C21-639A-4A19-83A7-507EBC01C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0030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D76F3E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76F3E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277814-C4A8-47D4-B913-B98D4D5A5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47900"/>
            <a:ext cx="5715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T0=4 equilibró detalle y ajuste de ruido; T0=8 fue mejor sólo en la entrada limpia.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4D7D18-5487-4536-8BAE-26D85C1D7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861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D76F3E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D76F3E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7AFAA4-5304-441B-A1EC-8BE43CC4F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314700"/>
            <a:ext cx="5715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El resultado es una prueba de concepto: una imagen, una realización de ruido y sin comparación externa.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7B09A1-2600-408B-8A4E-B9BBA0572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381125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F5A8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F5A8A"/>
                </a:solidFill>
                <a:latin typeface="Arial"/>
                <a:ea typeface="Arial"/>
                <a:cs typeface="Arial"/>
              </a:rPr>
              <a:t>Auditoría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6A85C5-4071-4E9E-9A8B-192D843E4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52625"/>
            <a:ext cx="3238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32 pruebas aprobadas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6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4 notebooks ejecutados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6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arrays de Sarah idénticos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6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contrato de evaluación reparado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650" b="0">
                <a:solidFill>
                  <a:srgbClr val="17212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7212B"/>
                </a:solidFill>
                <a:latin typeface="Arial"/>
                <a:ea typeface="Arial"/>
                <a:cs typeface="Arial"/>
              </a:rPr>
              <a:t>bloque 1 Successful en Kaggle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74CCB9-08DC-44D3-88ED-591E51EC6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05425"/>
            <a:ext cx="103346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D76F3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D76F3E"/>
                </a:solidFill>
                <a:latin typeface="Arial"/>
                <a:ea typeface="Arial"/>
                <a:cs typeface="Arial"/>
              </a:rPr>
              <a:t>Evidencia local completa · Kaggle verificado sólo para el bloque 1</a:t>
            </a:r>
          </a:p>
        </p:txBody>
      </p:sp>
    </p:spTree>
    <p:extLst>
      <p:ext uri="{BB962C8B-B14F-4D97-AF65-F5344CB8AC3E}">
        <p14:creationId xmlns:p14="http://schemas.microsoft.com/office/powerpoint/2010/main" val="14923886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2026-10-03T23:41:14.2520000Z</dcterms:created>
  <dcterms:modified xsi:type="dcterms:W3CDTF">2026-10-03T23:41:14.2520000Z</dcterms:modified>
</coreProperties>
</file>
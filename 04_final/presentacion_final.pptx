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0185" autoAdjust="0"/>
  </p:normalViewPr>
  <p:slideViewPr>
    <p:cSldViewPr snapToGrid="0">
      <p:cViewPr varScale="1">
        <p:scale>
          <a:sx n="62" d="100"/>
          <a:sy n="62" d="100"/>
        </p:scale>
        <p:origin x="1206" y="2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lineChart>
        <c:grouping val="standard"/>
        <c:varyColors val="0"/>
        <c:ser>
          <c:idx val="0"/>
          <c:order val="0"/>
          <c:tx>
            <c:v>MSE de entrenamiento</c:v>
          </c:tx>
          <c:spPr>
            <a:ln w="28575">
              <a:solidFill>
                <a:srgbClr val="1F5A8A"/>
              </a:solidFill>
            </a:ln>
          </c:spPr>
          <c:marker>
            <c:symbol val="circle"/>
            <c:size val="8"/>
            <c:spPr>
              <a:solidFill>
                <a:srgbClr val="1F5A8A"/>
              </a:solidFill>
            </c:spPr>
          </c:marker>
          <c:cat>
            <c:numRef>
              <c:f>'Chart Data'!$A$2:$A$9</c:f>
              <c:numCache>
                <c:formatCode>General</c:formatCode>
                <c:ptCount val="8"/>
                <c:pt idx="0">
                  <c:v>1</c:v>
                </c:pt>
                <c:pt idx="1">
                  <c:v>2</c:v>
                </c:pt>
                <c:pt idx="2">
                  <c:v>3</c:v>
                </c:pt>
                <c:pt idx="3">
                  <c:v>4</c:v>
                </c:pt>
                <c:pt idx="4">
                  <c:v>5</c:v>
                </c:pt>
                <c:pt idx="5">
                  <c:v>6</c:v>
                </c:pt>
                <c:pt idx="6">
                  <c:v>7</c:v>
                </c:pt>
                <c:pt idx="7">
                  <c:v>8</c:v>
                </c:pt>
              </c:numCache>
            </c:numRef>
          </c:cat>
          <c:val>
            <c:numRef>
              <c:f>'Chart Data'!$B$2:$B$9</c:f>
              <c:numCache>
                <c:formatCode>0.00000</c:formatCode>
                <c:ptCount val="8"/>
                <c:pt idx="0">
                  <c:v>5.6044730000000004E-4</c:v>
                </c:pt>
                <c:pt idx="1">
                  <c:v>4.2295629999999999E-4</c:v>
                </c:pt>
                <c:pt idx="2">
                  <c:v>3.7969419999999999E-4</c:v>
                </c:pt>
                <c:pt idx="3">
                  <c:v>3.6388479999999998E-4</c:v>
                </c:pt>
                <c:pt idx="4">
                  <c:v>3.5321149999999998E-4</c:v>
                </c:pt>
                <c:pt idx="5">
                  <c:v>3.4720410000000003E-4</c:v>
                </c:pt>
                <c:pt idx="6">
                  <c:v>3.3990840000000001E-4</c:v>
                </c:pt>
                <c:pt idx="7">
                  <c:v>3.3820600000000002E-4</c:v>
                </c:pt>
              </c:numCache>
            </c:numRef>
          </c:val>
          <c:smooth val="0"/>
          <c:extLst>
            <c:ext xmlns:c16="http://schemas.microsoft.com/office/drawing/2014/chart" uri="{C3380CC4-5D6E-409C-BE32-E72D297353CC}">
              <c16:uniqueId val="{00000000-BA28-4509-91BA-31D41B9757BD}"/>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title>
          <c:tx>
            <c:rich>
              <a:bodyPr/>
              <a:lstStyle/>
              <a:p>
                <a:r>
                  <a:rPr lang="es-MX">
                    <a:latin typeface="Arial"/>
                    <a:ea typeface="Arial"/>
                    <a:cs typeface="Arial"/>
                  </a:rPr>
                  <a:t>Iteración K-SVD</a:t>
                </a:r>
              </a:p>
            </c:rich>
          </c:tx>
          <c:overlay val="0"/>
        </c:title>
        <c:numFmt formatCode="General" sourceLinked="1"/>
        <c:majorTickMark val="none"/>
        <c:minorTickMark val="none"/>
        <c:tickLblPos val="nextTo"/>
        <c:spPr>
          <a:ln w="9525">
            <a:solidFill>
              <a:srgbClr val="D4DCE2"/>
            </a:solidFill>
          </a:ln>
        </c:spPr>
        <c:txPr>
          <a:bodyPr anchorCtr="1"/>
          <a:lstStyle/>
          <a:p>
            <a:pPr>
              <a:defRPr sz="1275">
                <a:solidFill>
                  <a:srgbClr val="53616E"/>
                </a:solidFill>
                <a:latin typeface="Arial"/>
                <a:ea typeface="Arial"/>
                <a:cs typeface="Arial"/>
              </a:defRPr>
            </a:pPr>
            <a:endParaRPr lang="es-MX"/>
          </a:p>
        </c:txPr>
        <c:crossAx val="48672768"/>
        <c:crosses val="autoZero"/>
        <c:auto val="1"/>
        <c:lblAlgn val="ctr"/>
        <c:lblOffset val="100"/>
        <c:noMultiLvlLbl val="1"/>
      </c:catAx>
      <c:valAx>
        <c:axId val="48672768"/>
        <c:scaling>
          <c:orientation val="minMax"/>
          <c:max val="5.9999999999999995E-4"/>
          <c:min val="2.9999999999999997E-4"/>
        </c:scaling>
        <c:delete val="0"/>
        <c:axPos val="l"/>
        <c:majorGridlines>
          <c:spPr>
            <a:ln w="9525">
              <a:solidFill>
                <a:srgbClr val="D4DCE2"/>
              </a:solidFill>
            </a:ln>
          </c:spPr>
        </c:majorGridlines>
        <c:title>
          <c:tx>
            <c:rich>
              <a:bodyPr/>
              <a:lstStyle/>
              <a:p>
                <a:r>
                  <a:rPr lang="es-MX">
                    <a:latin typeface="Arial"/>
                    <a:ea typeface="Arial"/>
                    <a:cs typeface="Arial"/>
                  </a:rPr>
                  <a:t>MSE</a:t>
                </a:r>
              </a:p>
            </c:rich>
          </c:tx>
          <c:overlay val="0"/>
        </c:title>
        <c:numFmt formatCode="0.00000" sourceLinked="1"/>
        <c:majorTickMark val="none"/>
        <c:minorTickMark val="none"/>
        <c:tickLblPos val="nextTo"/>
        <c:spPr>
          <a:ln w="9525">
            <a:solidFill>
              <a:srgbClr val="D4D4D4"/>
            </a:solidFill>
            <a:prstDash val="solid"/>
          </a:ln>
        </c:spPr>
        <c:txPr>
          <a:bodyPr anchorCtr="1"/>
          <a:lstStyle/>
          <a:p>
            <a:pPr>
              <a:defRPr sz="1200">
                <a:solidFill>
                  <a:srgbClr val="53616E"/>
                </a:solidFill>
                <a:latin typeface="Arial"/>
                <a:ea typeface="Arial"/>
                <a:cs typeface="Arial"/>
              </a:defRPr>
            </a:pPr>
            <a:endParaRPr lang="es-MX"/>
          </a:p>
        </c:txPr>
        <c:crossAx val="48650112"/>
        <c:crosses val="autoZero"/>
        <c:crossBetween val="between"/>
        <c:majorUnit val="5.0000000000000002E-5"/>
      </c:valAx>
      <c:spPr>
        <a:solidFill>
          <a:srgbClr val="FFFFFF"/>
        </a:solidFill>
        <a:ln w="9525">
          <a:solidFill>
            <a:srgbClr val="D4DCE2"/>
          </a:solidFill>
        </a:ln>
      </c:spPr>
    </c:plotArea>
    <c:plotVisOnly val="1"/>
    <c:dispBlanksAs val="zero"/>
    <c:showDLblsOverMax val="1"/>
  </c:chart>
  <c:spPr>
    <a:solidFill>
      <a:srgbClr val="F7F6F2"/>
    </a:solidFill>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lineChart>
        <c:grouping val="standard"/>
        <c:varyColors val="0"/>
        <c:ser>
          <c:idx val="0"/>
          <c:order val="0"/>
          <c:tx>
            <c:v>entrada limpia</c:v>
          </c:tx>
          <c:spPr>
            <a:ln w="28575">
              <a:solidFill>
                <a:srgbClr val="1F5A8A"/>
              </a:solidFill>
            </a:ln>
          </c:spPr>
          <c:marker>
            <c:symbol val="circle"/>
            <c:size val="9"/>
            <c:spPr>
              <a:solidFill>
                <a:srgbClr val="1F5A8A"/>
              </a:solidFill>
            </c:spPr>
          </c:marker>
          <c:cat>
            <c:numRef>
              <c:f>'Chart Data'!$A$2:$A$4</c:f>
              <c:numCache>
                <c:formatCode>General</c:formatCode>
                <c:ptCount val="3"/>
                <c:pt idx="0">
                  <c:v>2</c:v>
                </c:pt>
                <c:pt idx="1">
                  <c:v>4</c:v>
                </c:pt>
                <c:pt idx="2">
                  <c:v>8</c:v>
                </c:pt>
              </c:numCache>
            </c:numRef>
          </c:cat>
          <c:val>
            <c:numRef>
              <c:f>'Chart Data'!$B$2:$B$4</c:f>
              <c:numCache>
                <c:formatCode>0</c:formatCode>
                <c:ptCount val="3"/>
                <c:pt idx="0">
                  <c:v>26.712990000000001</c:v>
                </c:pt>
                <c:pt idx="1">
                  <c:v>28.982603000000001</c:v>
                </c:pt>
                <c:pt idx="2">
                  <c:v>31.430904999999999</c:v>
                </c:pt>
              </c:numCache>
            </c:numRef>
          </c:val>
          <c:smooth val="0"/>
          <c:extLst>
            <c:ext xmlns:c16="http://schemas.microsoft.com/office/drawing/2014/chart" uri="{C3380CC4-5D6E-409C-BE32-E72D297353CC}">
              <c16:uniqueId val="{00000000-B0A0-432F-A26B-F1724502C320}"/>
            </c:ext>
          </c:extLst>
        </c:ser>
        <c:ser>
          <c:idx val="1"/>
          <c:order val="1"/>
          <c:tx>
            <c:v>entrada ruidosa</c:v>
          </c:tx>
          <c:spPr>
            <a:ln w="28575">
              <a:solidFill>
                <a:srgbClr val="D76F3E"/>
              </a:solidFill>
            </a:ln>
          </c:spPr>
          <c:marker>
            <c:symbol val="circle"/>
            <c:size val="9"/>
            <c:spPr>
              <a:solidFill>
                <a:srgbClr val="D76F3E"/>
              </a:solidFill>
            </c:spPr>
          </c:marker>
          <c:cat>
            <c:numRef>
              <c:f>'Chart Data'!$C$2:$C$4</c:f>
              <c:numCache>
                <c:formatCode>General</c:formatCode>
                <c:ptCount val="3"/>
                <c:pt idx="0">
                  <c:v>2</c:v>
                </c:pt>
                <c:pt idx="1">
                  <c:v>4</c:v>
                </c:pt>
                <c:pt idx="2">
                  <c:v>8</c:v>
                </c:pt>
              </c:numCache>
            </c:numRef>
          </c:cat>
          <c:val>
            <c:numRef>
              <c:f>'Chart Data'!$D$2:$D$4</c:f>
              <c:numCache>
                <c:formatCode>0</c:formatCode>
                <c:ptCount val="3"/>
                <c:pt idx="0">
                  <c:v>25.553826999999998</c:v>
                </c:pt>
                <c:pt idx="1">
                  <c:v>26.121742999999999</c:v>
                </c:pt>
                <c:pt idx="2">
                  <c:v>25.638453999999999</c:v>
                </c:pt>
              </c:numCache>
            </c:numRef>
          </c:val>
          <c:smooth val="0"/>
          <c:extLst>
            <c:ext xmlns:c16="http://schemas.microsoft.com/office/drawing/2014/chart" uri="{C3380CC4-5D6E-409C-BE32-E72D297353CC}">
              <c16:uniqueId val="{00000001-B0A0-432F-A26B-F1724502C320}"/>
            </c:ext>
          </c:extLst>
        </c:ser>
        <c:ser>
          <c:idx val="2"/>
          <c:order val="2"/>
          <c:tx>
            <c:v>ruidosa sin procesar</c:v>
          </c:tx>
          <c:spPr>
            <a:ln w="19050">
              <a:solidFill>
                <a:srgbClr val="53616E"/>
              </a:solidFill>
            </a:ln>
          </c:spPr>
          <c:marker>
            <c:symbol val="none"/>
          </c:marker>
          <c:cat>
            <c:numRef>
              <c:f>'Chart Data'!$E$2:$E$4</c:f>
              <c:numCache>
                <c:formatCode>General</c:formatCode>
                <c:ptCount val="3"/>
                <c:pt idx="0">
                  <c:v>2</c:v>
                </c:pt>
                <c:pt idx="1">
                  <c:v>4</c:v>
                </c:pt>
                <c:pt idx="2">
                  <c:v>8</c:v>
                </c:pt>
              </c:numCache>
            </c:numRef>
          </c:cat>
          <c:val>
            <c:numRef>
              <c:f>'Chart Data'!$F$2:$F$4</c:f>
              <c:numCache>
                <c:formatCode>0</c:formatCode>
                <c:ptCount val="3"/>
                <c:pt idx="0">
                  <c:v>22.090879999999999</c:v>
                </c:pt>
                <c:pt idx="1">
                  <c:v>22.090879999999999</c:v>
                </c:pt>
                <c:pt idx="2">
                  <c:v>22.090879999999999</c:v>
                </c:pt>
              </c:numCache>
            </c:numRef>
          </c:val>
          <c:smooth val="0"/>
          <c:extLst>
            <c:ext xmlns:c16="http://schemas.microsoft.com/office/drawing/2014/chart" uri="{C3380CC4-5D6E-409C-BE32-E72D297353CC}">
              <c16:uniqueId val="{00000002-B0A0-432F-A26B-F1724502C320}"/>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title>
          <c:tx>
            <c:rich>
              <a:bodyPr/>
              <a:lstStyle/>
              <a:p>
                <a:r>
                  <a:rPr lang="es-MX">
                    <a:latin typeface="Arial"/>
                    <a:ea typeface="Arial"/>
                    <a:cs typeface="Arial"/>
                  </a:rPr>
                  <a:t>T0 máximo por parche</a:t>
                </a:r>
              </a:p>
            </c:rich>
          </c:tx>
          <c:overlay val="0"/>
        </c:title>
        <c:numFmt formatCode="General" sourceLinked="1"/>
        <c:majorTickMark val="none"/>
        <c:minorTickMark val="none"/>
        <c:tickLblPos val="nextTo"/>
        <c:spPr>
          <a:ln w="9525">
            <a:solidFill>
              <a:srgbClr val="D4DCE2"/>
            </a:solidFill>
          </a:ln>
        </c:spPr>
        <c:txPr>
          <a:bodyPr anchorCtr="1"/>
          <a:lstStyle/>
          <a:p>
            <a:pPr>
              <a:defRPr sz="1275">
                <a:solidFill>
                  <a:srgbClr val="53616E"/>
                </a:solidFill>
                <a:latin typeface="Arial"/>
                <a:ea typeface="Arial"/>
                <a:cs typeface="Arial"/>
              </a:defRPr>
            </a:pPr>
            <a:endParaRPr lang="es-MX"/>
          </a:p>
        </c:txPr>
        <c:crossAx val="48672768"/>
        <c:crosses val="autoZero"/>
        <c:auto val="1"/>
        <c:lblAlgn val="ctr"/>
        <c:lblOffset val="100"/>
        <c:noMultiLvlLbl val="1"/>
      </c:catAx>
      <c:valAx>
        <c:axId val="48672768"/>
        <c:scaling>
          <c:orientation val="minMax"/>
          <c:max val="32"/>
          <c:min val="21"/>
        </c:scaling>
        <c:delete val="0"/>
        <c:axPos val="l"/>
        <c:majorGridlines>
          <c:spPr>
            <a:ln w="9525">
              <a:solidFill>
                <a:srgbClr val="D4DCE2"/>
              </a:solidFill>
            </a:ln>
          </c:spPr>
        </c:majorGridlines>
        <c:title>
          <c:tx>
            <c:rich>
              <a:bodyPr/>
              <a:lstStyle/>
              <a:p>
                <a:r>
                  <a:rPr lang="es-MX">
                    <a:latin typeface="Arial"/>
                    <a:ea typeface="Arial"/>
                    <a:cs typeface="Arial"/>
                  </a:rPr>
                  <a:t>PSNR dB</a:t>
                </a:r>
              </a:p>
            </c:rich>
          </c:tx>
          <c:overlay val="0"/>
        </c:title>
        <c:numFmt formatCode="0" sourceLinked="1"/>
        <c:majorTickMark val="none"/>
        <c:minorTickMark val="none"/>
        <c:tickLblPos val="nextTo"/>
        <c:spPr>
          <a:ln w="9525">
            <a:solidFill>
              <a:srgbClr val="D4D4D4"/>
            </a:solidFill>
            <a:prstDash val="solid"/>
          </a:ln>
        </c:spPr>
        <c:txPr>
          <a:bodyPr anchorCtr="1"/>
          <a:lstStyle/>
          <a:p>
            <a:pPr>
              <a:defRPr sz="1200">
                <a:solidFill>
                  <a:srgbClr val="53616E"/>
                </a:solidFill>
                <a:latin typeface="Arial"/>
                <a:ea typeface="Arial"/>
                <a:cs typeface="Arial"/>
              </a:defRPr>
            </a:pPr>
            <a:endParaRPr lang="es-MX"/>
          </a:p>
        </c:txPr>
        <c:crossAx val="48650112"/>
        <c:crosses val="autoZero"/>
        <c:crossBetween val="between"/>
        <c:majorUnit val="2"/>
      </c:valAx>
      <c:spPr>
        <a:solidFill>
          <a:srgbClr val="FFFFFF"/>
        </a:solidFill>
        <a:ln w="9525">
          <a:solidFill>
            <a:srgbClr val="D4DCE2"/>
          </a:solidFill>
        </a:ln>
      </c:spPr>
    </c:plotArea>
    <c:legend>
      <c:legendPos val="t"/>
      <c:overlay val="0"/>
      <c:txPr>
        <a:bodyPr anchorCtr="1"/>
        <a:lstStyle/>
        <a:p>
          <a:pPr>
            <a:defRPr sz="1200">
              <a:solidFill>
                <a:srgbClr val="17212B"/>
              </a:solidFill>
              <a:latin typeface="Arial"/>
              <a:ea typeface="Arial"/>
              <a:cs typeface="Arial"/>
            </a:defRPr>
          </a:pPr>
          <a:endParaRPr lang="es-MX"/>
        </a:p>
      </c:txPr>
    </c:legend>
    <c:plotVisOnly val="1"/>
    <c:dispBlanksAs val="zero"/>
    <c:showDLblsOverMax val="1"/>
  </c:chart>
  <c:spPr>
    <a:solidFill>
      <a:srgbClr val="F7F6F2"/>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RESPONSABLE: Sarah · TIEMPO SUGERIDO: 1 min 10 s.</a:t>
            </a:r>
          </a:p>
          <a:p>
            <a:endParaRPr/>
          </a:p>
          <a:p>
            <a:r>
              <a:t>Abrir con el problema: observamos una imagen contaminada por ruido y queremos recuperar estructura sin suavizar indiscriminadamente los detalles. El proyecto usa representaciones dispersas: cada parche se aproxima con pocos átomos de un diccionario aprendido.</a:t>
            </a:r>
          </a:p>
          <a:p>
            <a:endParaRPr/>
          </a:p>
          <a:p>
            <a:r>
              <a:t>Presentar al equipo y la división de trabajo que aparece en la diapositiva. Aclarar que cada bloque entrega archivos con contratos definidos, por lo que el resultado final es reproducible.</a:t>
            </a:r>
          </a:p>
          <a:p>
            <a:endParaRPr/>
          </a:p>
          <a:p>
            <a:r>
              <a:t>Anticipar el resultado principal sin interpretarlo todavía: el mejor caso ruidoso obtuvo 26.12 dB con T0 igual a 4, una mejora de 4.03 dB frente a la observación. Indicar que es una prueba de concepto y que no se afirma superar el estado del arte.</a:t>
            </a:r>
          </a:p>
          <a:p>
            <a:endParaRPr/>
          </a:p>
          <a:p>
            <a:r>
              <a:t>Transición: explicar primero cómo se prepararon las imágenes y los parches.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RESPONSABLE: Sarah · TIEMPO SUGERIDO: 1 min 50 s.</a:t>
            </a:r>
          </a:p>
          <a:p>
            <a:endParaRPr dirty="0"/>
          </a:p>
          <a:p>
            <a:r>
              <a:rPr dirty="0" err="1"/>
              <a:t>Explicar</a:t>
            </a:r>
            <a:r>
              <a:rPr dirty="0"/>
              <a:t> </a:t>
            </a:r>
            <a:r>
              <a:rPr dirty="0" err="1"/>
              <a:t>que</a:t>
            </a:r>
            <a:r>
              <a:rPr dirty="0"/>
              <a:t> camera se </a:t>
            </a:r>
            <a:r>
              <a:rPr dirty="0" err="1"/>
              <a:t>usa</a:t>
            </a:r>
            <a:r>
              <a:rPr dirty="0"/>
              <a:t> </a:t>
            </a:r>
            <a:r>
              <a:rPr dirty="0" err="1"/>
              <a:t>exclusivamente</a:t>
            </a:r>
            <a:r>
              <a:rPr dirty="0"/>
              <a:t> para </a:t>
            </a:r>
            <a:r>
              <a:rPr dirty="0" err="1"/>
              <a:t>aprender</a:t>
            </a:r>
            <a:r>
              <a:rPr dirty="0"/>
              <a:t> el </a:t>
            </a:r>
            <a:r>
              <a:rPr dirty="0" err="1"/>
              <a:t>diccionario</a:t>
            </a:r>
            <a:r>
              <a:rPr dirty="0"/>
              <a:t> y coins para </a:t>
            </a:r>
            <a:r>
              <a:rPr dirty="0" err="1"/>
              <a:t>evaluar</a:t>
            </a:r>
            <a:r>
              <a:rPr dirty="0"/>
              <a:t>; </a:t>
            </a:r>
            <a:r>
              <a:rPr dirty="0" err="1"/>
              <a:t>así</a:t>
            </a:r>
            <a:r>
              <a:rPr dirty="0"/>
              <a:t> se </a:t>
            </a:r>
            <a:r>
              <a:rPr dirty="0" err="1"/>
              <a:t>evita</a:t>
            </a:r>
            <a:r>
              <a:rPr dirty="0"/>
              <a:t> </a:t>
            </a:r>
            <a:r>
              <a:rPr dirty="0" err="1"/>
              <a:t>entrenar</a:t>
            </a:r>
            <a:r>
              <a:rPr dirty="0"/>
              <a:t> con la imagen </a:t>
            </a:r>
            <a:r>
              <a:rPr dirty="0" err="1"/>
              <a:t>limpia</a:t>
            </a:r>
            <a:r>
              <a:rPr dirty="0"/>
              <a:t> exacta </a:t>
            </a:r>
            <a:r>
              <a:rPr dirty="0" err="1"/>
              <a:t>que</a:t>
            </a:r>
            <a:r>
              <a:rPr dirty="0"/>
              <a:t> </a:t>
            </a:r>
            <a:r>
              <a:rPr dirty="0" err="1"/>
              <a:t>después</a:t>
            </a:r>
            <a:r>
              <a:rPr dirty="0"/>
              <a:t> se </a:t>
            </a:r>
            <a:r>
              <a:rPr dirty="0" err="1"/>
              <a:t>reconstruye</a:t>
            </a:r>
            <a:r>
              <a:rPr dirty="0"/>
              <a:t>. Ambas </a:t>
            </a:r>
            <a:r>
              <a:rPr dirty="0" err="1"/>
              <a:t>imágenes</a:t>
            </a:r>
            <a:r>
              <a:rPr dirty="0"/>
              <a:t> se </a:t>
            </a:r>
            <a:r>
              <a:rPr dirty="0" err="1"/>
              <a:t>convierten</a:t>
            </a:r>
            <a:r>
              <a:rPr dirty="0"/>
              <a:t> a float64 antes de </a:t>
            </a:r>
            <a:r>
              <a:rPr dirty="0" err="1"/>
              <a:t>redimensionar</a:t>
            </a:r>
            <a:r>
              <a:rPr dirty="0"/>
              <a:t>.</a:t>
            </a:r>
          </a:p>
          <a:p>
            <a:endParaRPr dirty="0"/>
          </a:p>
          <a:p>
            <a:r>
              <a:rPr dirty="0" err="1"/>
              <a:t>Describir</a:t>
            </a:r>
            <a:r>
              <a:rPr dirty="0"/>
              <a:t> el </a:t>
            </a:r>
            <a:r>
              <a:rPr dirty="0" err="1"/>
              <a:t>contrato</a:t>
            </a:r>
            <a:r>
              <a:rPr dirty="0"/>
              <a:t>: parches de 8 </a:t>
            </a:r>
            <a:r>
              <a:rPr dirty="0" err="1"/>
              <a:t>por</a:t>
            </a:r>
            <a:r>
              <a:rPr dirty="0"/>
              <a:t> 8, paso 4, </a:t>
            </a:r>
            <a:r>
              <a:rPr dirty="0" err="1"/>
              <a:t>recorrido</a:t>
            </a:r>
            <a:r>
              <a:rPr dirty="0"/>
              <a:t> </a:t>
            </a:r>
            <a:r>
              <a:rPr dirty="0" err="1"/>
              <a:t>por</a:t>
            </a:r>
            <a:r>
              <a:rPr dirty="0"/>
              <a:t> </a:t>
            </a:r>
            <a:r>
              <a:rPr dirty="0" err="1"/>
              <a:t>filas</a:t>
            </a:r>
            <a:r>
              <a:rPr dirty="0"/>
              <a:t> y </a:t>
            </a:r>
            <a:r>
              <a:rPr dirty="0" err="1"/>
              <a:t>aplanado</a:t>
            </a:r>
            <a:r>
              <a:rPr dirty="0"/>
              <a:t> C. Cada </a:t>
            </a:r>
            <a:r>
              <a:rPr dirty="0" err="1"/>
              <a:t>parche</a:t>
            </a:r>
            <a:r>
              <a:rPr dirty="0"/>
              <a:t> se centra </a:t>
            </a:r>
            <a:r>
              <a:rPr dirty="0" err="1"/>
              <a:t>restando</a:t>
            </a:r>
            <a:r>
              <a:rPr dirty="0"/>
              <a:t> </a:t>
            </a:r>
            <a:r>
              <a:rPr dirty="0" err="1"/>
              <a:t>su</a:t>
            </a:r>
            <a:r>
              <a:rPr dirty="0"/>
              <a:t> media, </a:t>
            </a:r>
            <a:r>
              <a:rPr dirty="0" err="1"/>
              <a:t>pero</a:t>
            </a:r>
            <a:r>
              <a:rPr dirty="0"/>
              <a:t> no se divide entre </a:t>
            </a:r>
            <a:r>
              <a:rPr dirty="0" err="1"/>
              <a:t>su</a:t>
            </a:r>
            <a:r>
              <a:rPr dirty="0"/>
              <a:t> norma. Se </a:t>
            </a:r>
            <a:r>
              <a:rPr dirty="0" err="1"/>
              <a:t>muestrean</a:t>
            </a:r>
            <a:r>
              <a:rPr dirty="0"/>
              <a:t> 1500 parches sin </a:t>
            </a:r>
            <a:r>
              <a:rPr dirty="0" err="1"/>
              <a:t>reemplazo</a:t>
            </a:r>
            <a:r>
              <a:rPr dirty="0"/>
              <a:t> con </a:t>
            </a:r>
            <a:r>
              <a:rPr dirty="0" err="1"/>
              <a:t>semilla</a:t>
            </a:r>
            <a:r>
              <a:rPr dirty="0"/>
              <a:t> 42.</a:t>
            </a:r>
          </a:p>
          <a:p>
            <a:endParaRPr dirty="0"/>
          </a:p>
          <a:p>
            <a:r>
              <a:rPr dirty="0"/>
              <a:t>El </a:t>
            </a:r>
            <a:r>
              <a:rPr dirty="0" err="1"/>
              <a:t>ensamblado</a:t>
            </a:r>
            <a:r>
              <a:rPr dirty="0"/>
              <a:t> </a:t>
            </a:r>
            <a:r>
              <a:rPr dirty="0" err="1"/>
              <a:t>devuelve</a:t>
            </a:r>
            <a:r>
              <a:rPr dirty="0"/>
              <a:t> la media y </a:t>
            </a:r>
            <a:r>
              <a:rPr dirty="0" err="1"/>
              <a:t>promedia</a:t>
            </a:r>
            <a:r>
              <a:rPr dirty="0"/>
              <a:t> las </a:t>
            </a:r>
            <a:r>
              <a:rPr dirty="0" err="1"/>
              <a:t>contribuciones</a:t>
            </a:r>
            <a:r>
              <a:rPr dirty="0"/>
              <a:t> de </a:t>
            </a:r>
            <a:r>
              <a:rPr dirty="0" err="1"/>
              <a:t>los</a:t>
            </a:r>
            <a:r>
              <a:rPr dirty="0"/>
              <a:t> parches </a:t>
            </a:r>
            <a:r>
              <a:rPr dirty="0" err="1"/>
              <a:t>solapados</a:t>
            </a:r>
            <a:r>
              <a:rPr dirty="0"/>
              <a:t>. No se </a:t>
            </a:r>
            <a:r>
              <a:rPr dirty="0" err="1"/>
              <a:t>aplica</a:t>
            </a:r>
            <a:r>
              <a:rPr dirty="0"/>
              <a:t> clipping. La </a:t>
            </a:r>
            <a:r>
              <a:rPr dirty="0" err="1"/>
              <a:t>prueba</a:t>
            </a:r>
            <a:r>
              <a:rPr dirty="0"/>
              <a:t> de </a:t>
            </a:r>
            <a:r>
              <a:rPr dirty="0" err="1"/>
              <a:t>ida</a:t>
            </a:r>
            <a:r>
              <a:rPr dirty="0"/>
              <a:t> y </a:t>
            </a:r>
            <a:r>
              <a:rPr dirty="0" err="1"/>
              <a:t>vuelta</a:t>
            </a:r>
            <a:r>
              <a:rPr dirty="0"/>
              <a:t> produce un error </a:t>
            </a:r>
            <a:r>
              <a:rPr dirty="0" err="1"/>
              <a:t>máximo</a:t>
            </a:r>
            <a:r>
              <a:rPr dirty="0"/>
              <a:t> de 1.11 </a:t>
            </a:r>
            <a:r>
              <a:rPr dirty="0" err="1"/>
              <a:t>por</a:t>
            </a:r>
            <a:r>
              <a:rPr dirty="0"/>
              <a:t> 10 a la </a:t>
            </a:r>
            <a:r>
              <a:rPr dirty="0" err="1"/>
              <a:t>menos</a:t>
            </a:r>
            <a:r>
              <a:rPr dirty="0"/>
              <a:t> 16, lo </a:t>
            </a:r>
            <a:r>
              <a:rPr dirty="0" err="1"/>
              <a:t>que</a:t>
            </a:r>
            <a:r>
              <a:rPr dirty="0"/>
              <a:t> </a:t>
            </a:r>
            <a:r>
              <a:rPr dirty="0" err="1"/>
              <a:t>confirma</a:t>
            </a:r>
            <a:r>
              <a:rPr dirty="0"/>
              <a:t> </a:t>
            </a:r>
            <a:r>
              <a:rPr dirty="0" err="1"/>
              <a:t>posiciones</a:t>
            </a:r>
            <a:r>
              <a:rPr dirty="0"/>
              <a:t>, </a:t>
            </a:r>
            <a:r>
              <a:rPr dirty="0" err="1"/>
              <a:t>orden</a:t>
            </a:r>
            <a:r>
              <a:rPr dirty="0"/>
              <a:t> y </a:t>
            </a:r>
            <a:r>
              <a:rPr dirty="0" err="1"/>
              <a:t>cobertura</a:t>
            </a:r>
            <a:r>
              <a:rPr dirty="0"/>
              <a:t>.</a:t>
            </a:r>
          </a:p>
          <a:p>
            <a:endParaRPr dirty="0"/>
          </a:p>
          <a:p>
            <a:r>
              <a:rPr dirty="0" err="1"/>
              <a:t>Cerrar</a:t>
            </a:r>
            <a:r>
              <a:rPr dirty="0"/>
              <a:t> </a:t>
            </a:r>
            <a:r>
              <a:rPr dirty="0" err="1"/>
              <a:t>señalando</a:t>
            </a:r>
            <a:r>
              <a:rPr dirty="0"/>
              <a:t> </a:t>
            </a:r>
            <a:r>
              <a:rPr dirty="0" err="1"/>
              <a:t>que</a:t>
            </a:r>
            <a:r>
              <a:rPr dirty="0"/>
              <a:t> </a:t>
            </a:r>
            <a:r>
              <a:rPr dirty="0" err="1"/>
              <a:t>los</a:t>
            </a:r>
            <a:r>
              <a:rPr dirty="0"/>
              <a:t> </a:t>
            </a:r>
            <a:r>
              <a:rPr dirty="0" err="1"/>
              <a:t>arreglos</a:t>
            </a:r>
            <a:r>
              <a:rPr dirty="0"/>
              <a:t> de </a:t>
            </a:r>
            <a:r>
              <a:rPr dirty="0" err="1"/>
              <a:t>datos</a:t>
            </a:r>
            <a:r>
              <a:rPr dirty="0"/>
              <a:t> son </a:t>
            </a:r>
            <a:r>
              <a:rPr dirty="0" err="1"/>
              <a:t>los</a:t>
            </a:r>
            <a:r>
              <a:rPr dirty="0"/>
              <a:t> </a:t>
            </a:r>
            <a:r>
              <a:rPr dirty="0" err="1"/>
              <a:t>mismos</a:t>
            </a:r>
            <a:r>
              <a:rPr dirty="0"/>
              <a:t> del </a:t>
            </a:r>
            <a:r>
              <a:rPr dirty="0" err="1"/>
              <a:t>proyecto</a:t>
            </a:r>
            <a:r>
              <a:rPr dirty="0"/>
              <a:t> de Alan/Edgar; las </a:t>
            </a:r>
            <a:r>
              <a:rPr dirty="0" err="1"/>
              <a:t>modificaciones</a:t>
            </a:r>
            <a:r>
              <a:rPr dirty="0"/>
              <a:t> </a:t>
            </a:r>
            <a:r>
              <a:rPr dirty="0" err="1"/>
              <a:t>añadidas</a:t>
            </a:r>
            <a:r>
              <a:rPr dirty="0"/>
              <a:t> se </a:t>
            </a:r>
            <a:r>
              <a:rPr dirty="0" err="1"/>
              <a:t>limitan</a:t>
            </a:r>
            <a:r>
              <a:rPr dirty="0"/>
              <a:t> a </a:t>
            </a:r>
            <a:r>
              <a:rPr dirty="0" err="1"/>
              <a:t>validaciones</a:t>
            </a:r>
            <a:r>
              <a:rPr dirty="0"/>
              <a:t> de entrada y </a:t>
            </a:r>
            <a:r>
              <a:rPr dirty="0" err="1"/>
              <a:t>compatibilidad</a:t>
            </a:r>
            <a:r>
              <a:rPr dirty="0"/>
              <a:t> de </a:t>
            </a:r>
            <a:r>
              <a:rPr dirty="0" err="1"/>
              <a:t>contratos</a:t>
            </a:r>
            <a:r>
              <a:rPr dirty="0"/>
              <a:t>.</a:t>
            </a:r>
          </a:p>
          <a:p>
            <a:endParaRPr dirty="0"/>
          </a:p>
          <a:p>
            <a:r>
              <a:rPr dirty="0" err="1"/>
              <a:t>Transición</a:t>
            </a:r>
            <a:r>
              <a:rPr dirty="0"/>
              <a:t>: Alan </a:t>
            </a:r>
            <a:r>
              <a:rPr dirty="0" err="1"/>
              <a:t>explicará</a:t>
            </a:r>
            <a:r>
              <a:rPr dirty="0"/>
              <a:t> </a:t>
            </a:r>
            <a:r>
              <a:rPr dirty="0" err="1"/>
              <a:t>cómo</a:t>
            </a:r>
            <a:r>
              <a:rPr dirty="0"/>
              <a:t> se </a:t>
            </a:r>
            <a:r>
              <a:rPr dirty="0" err="1"/>
              <a:t>aprende</a:t>
            </a:r>
            <a:r>
              <a:rPr dirty="0"/>
              <a:t> el </a:t>
            </a:r>
            <a:r>
              <a:rPr dirty="0" err="1"/>
              <a:t>diccionario</a:t>
            </a:r>
            <a:r>
              <a:rPr dirty="0"/>
              <a:t> con </a:t>
            </a:r>
            <a:r>
              <a:rPr dirty="0" err="1"/>
              <a:t>esos</a:t>
            </a:r>
            <a:r>
              <a:rPr dirty="0"/>
              <a:t> parches.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RESPONSABLE: Alan (Edgar) · TIEMPO SUGERIDO: 2 min.</a:t>
            </a:r>
          </a:p>
          <a:p>
            <a:endParaRPr/>
          </a:p>
          <a:p>
            <a:r>
              <a:t>Definir el modelo: cada parche centrado z se aproxima como D por alfa, con a lo más T coeficientes distintos de cero. Como D tiene 128 átomos de dimensión 64, el diccionario es sobrecompleto.</a:t>
            </a:r>
          </a:p>
          <a:p>
            <a:endParaRPr/>
          </a:p>
          <a:p>
            <a:r>
              <a:t>La primera etapa usa OMP. En cada paso se elige un átomo correlacionado con el residual y se recalculan los coeficientes sobre el soporte activo. No implementamos OMP desde cero; usamos orthogonal_mp de scikit-learn.</a:t>
            </a:r>
          </a:p>
          <a:p>
            <a:endParaRPr/>
          </a:p>
          <a:p>
            <a:r>
              <a:t>La segunda etapa sí implementa el ciclo K-SVD. Para el átomo j se forma el residual sin su contribución y se restringe a las señales que actualmente lo usan. La mejor aproximación de rango uno se obtiene con la SVD: u1 actualiza el átomo y sigma1 por v1 actualiza sus coeficientes.</a:t>
            </a:r>
          </a:p>
          <a:p>
            <a:endParaRPr/>
          </a:p>
          <a:p>
            <a:r>
              <a:t>Subrayar que restringir el residual conserva la dispersión. Un átomo sin uso se reinicializaría con el residual de mayor norma.</a:t>
            </a:r>
          </a:p>
          <a:p>
            <a:endParaRPr/>
          </a:p>
          <a:p>
            <a:r>
              <a:t>Transición: mostrar ahora la evolución cuantitativa del entrenamiento.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RESPONSABLE: Alan (Edgar) · TIEMPO SUGERIDO: 2 min.</a:t>
            </a:r>
          </a:p>
          <a:p>
            <a:endParaRPr/>
          </a:p>
          <a:p>
            <a:r>
              <a:t>Interpretar la curva como el MSE de representación después de actualizar el diccionario en cada iteración. Desciende de 5.60 por 10 a la menos 4 en la primera iteración a 3.38 por 10 a la menos 4 en la octava.</a:t>
            </a:r>
          </a:p>
          <a:p>
            <a:endParaRPr/>
          </a:p>
          <a:p>
            <a:r>
              <a:t>La comparación lateral usa el diccionario inicial antes del entrenamiento, con MSE 9.55 por 10 a la menos 4, y el diccionario final después de recodificar todos los parches, con 3.41 por 10 a la menos 4. La reducción relativa es cercana al 64 por ciento.</a:t>
            </a:r>
          </a:p>
          <a:p>
            <a:endParaRPr/>
          </a:p>
          <a:p>
            <a:r>
              <a:t>La recodificación final es necesaria porque los coeficientes almacenados durante la última actualización no necesariamente corresponden a una pasada completa de OMP con el diccionario definitivo.</a:t>
            </a:r>
          </a:p>
          <a:p>
            <a:endParaRPr/>
          </a:p>
          <a:p>
            <a:r>
              <a:t>Ningún átomo quedó sin uso y no se activó la configuración de contingencia. El tiempo medido en esta máquina fue 2.09 segundos, pero debe presentarse sólo como referencia local.</a:t>
            </a:r>
          </a:p>
          <a:p>
            <a:endParaRPr/>
          </a:p>
          <a:p>
            <a:r>
              <a:t>Transición: Sergio describirá cómo se evaluó el diccionario congelado.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RESPONSABLE: Sergio · TIEMPO SUGERIDO: 1 min 25 s.</a:t>
            </a:r>
          </a:p>
          <a:p>
            <a:endParaRPr/>
          </a:p>
          <a:p>
            <a:r>
              <a:t>Explicar el protocolo antes de mostrar cifras. Se toma coins limpia como referencia y se genera una sola observación con ruido gaussiano de desviación 20 sobre 255 y semilla 44. El ruido se añade después del redimensionamiento.</a:t>
            </a:r>
          </a:p>
          <a:p>
            <a:endParaRPr/>
          </a:p>
          <a:p>
            <a:r>
              <a:t>No se recorta la observación ni las reconstrucciones. El límite de cero a uno se usa únicamente al dibujar. Esto evita mejorar artificialmente el MSE mediante saturación.</a:t>
            </a:r>
          </a:p>
          <a:p>
            <a:endParaRPr/>
          </a:p>
          <a:p>
            <a:r>
              <a:t>Se evalúan presupuestos T0 de 2, 4 y 8, tanto sobre la entrada limpia como sobre la ruidosa. Para cada caso se miden MSE, PSNR, coeficientes activos y mediana del tiempo de cinco repeticiones. La referencia ruidosa sin procesar completa los siete casos.</a:t>
            </a:r>
          </a:p>
          <a:p>
            <a:endParaRPr/>
          </a:p>
          <a:p>
            <a:r>
              <a:t>Indicar visualmente que un soporte pequeño suaviza más y uno grande conserva más detalle, pero puede conservar también ruido.</a:t>
            </a:r>
          </a:p>
          <a:p>
            <a:endParaRPr/>
          </a:p>
          <a:p>
            <a:r>
              <a:t>Transición: cuantificar esa observación con la tabla.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RESPONSABLE: Sergio · TIEMPO SUGERIDO: 1 min 35 s.</a:t>
            </a:r>
          </a:p>
          <a:p>
            <a:endParaRPr/>
          </a:p>
          <a:p>
            <a:r>
              <a:t>Comenzar por la línea base: la entrada ruidosa tiene MSE 0.006179 y PSNR 22.09 dB. Todas las reconstrucciones dispersas mejoran esa referencia.</a:t>
            </a:r>
          </a:p>
          <a:p>
            <a:endParaRPr/>
          </a:p>
          <a:p>
            <a:r>
              <a:t>En la imagen limpia, el PSNR aumenta de manera monotónica y alcanza 31.43 dB con ocho átomos. En la imagen ruidosa, el mejor valor es 26.12 dB con cuatro átomos; representa una ganancia de 4.03 dB y una reducción aproximada de 60.5 por ciento en MSE respecto de la entrada.</a:t>
            </a:r>
          </a:p>
          <a:p>
            <a:endParaRPr/>
          </a:p>
          <a:p>
            <a:r>
              <a:t>Con ocho átomos el caso ruidoso baja a 25.64 dB. Interpretamos que la mayor capacidad reduce el error de aproximación limpio, pero también permite ajustar parte del ruido. Esta explicación es consistente con las mediciones, aunque no se midió directamente qué coeficientes corresponden al ruido.</a:t>
            </a:r>
          </a:p>
          <a:p>
            <a:endParaRPr/>
          </a:p>
          <a:p>
            <a:r>
              <a:t>La tabla es editable en PowerPoint y proviene de resultados.csv.</a:t>
            </a:r>
          </a:p>
          <a:p>
            <a:endParaRPr/>
          </a:p>
          <a:p>
            <a:r>
              <a:t>Transición: Areli conectará la tendencia con las conclusiones y limitaciones.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RESPONSABLE: Areli · TIEMPO SUGERIDO: 1 min 35 s.</a:t>
            </a:r>
          </a:p>
          <a:p>
            <a:endParaRPr/>
          </a:p>
          <a:p>
            <a:r>
              <a:t>Comparar las dos curvas. Para la entrada limpia, aumentar T0 amplía la capacidad de representación y el PSNR crece de 26.71 a 31.43 dB. Para la entrada ruidosa, la curva presenta un máximo en cuatro átomos y después pierde 0.48 dB.</a:t>
            </a:r>
          </a:p>
          <a:p>
            <a:endParaRPr/>
          </a:p>
          <a:p>
            <a:r>
              <a:t>Interpretar el resultado como un compromiso entre sesgo y ajuste del ruido. Con dos átomos el modelo es restrictivo y puede eliminar estructura; con ocho explica más detalle, pero también componentes accidentales de la perturbación. El punto óptimo depende del nivel de ruido y no debe generalizarse a otras imágenes.</a:t>
            </a:r>
          </a:p>
          <a:p>
            <a:endParaRPr/>
          </a:p>
          <a:p>
            <a:r>
              <a:t>La línea discontinua de 22.09 dB representa la observación sin procesar y permite ver que los tres presupuestos producen mejora en este experimento.</a:t>
            </a:r>
          </a:p>
          <a:p>
            <a:endParaRPr/>
          </a:p>
          <a:p>
            <a:r>
              <a:t>Mencionar el costo: para la entrada ruidosa, el tiempo aumenta aproximadamente de 52 a 168 milisegundos entre T0 igual a 2 y 8; más costo no implica mejor restauración.</a:t>
            </a:r>
          </a:p>
          <a:p>
            <a:endParaRPr/>
          </a:p>
          <a:p>
            <a:r>
              <a:t>Transición: cerrar con lo demostrado y con los límites del estudio.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RESPONSABLE: Areli · TIEMPO SUGERIDO: 1 min 25 s.</a:t>
            </a:r>
          </a:p>
          <a:p>
            <a:endParaRPr/>
          </a:p>
          <a:p>
            <a:r>
              <a:t>Cerrar con tres conclusiones. Primero, la implementación K-SVD funcionó y mejoró la observación ruidosa en 4.03 dB para este caso. Segundo, cuatro átomos equilibraron pérdida de detalle y ajuste del ruido; ocho fueron mejores sólo cuando la entrada estaba limpia. Tercero, el resultado es una prueba de concepto, no una evaluación generalizable.</a:t>
            </a:r>
          </a:p>
          <a:p>
            <a:endParaRPr/>
          </a:p>
          <a:p>
            <a:r>
              <a:t>Explicar las limitaciones: una imagen de entrenamiento, una de prueba, una sola realización de ruido, redimensionamiento de coins y ausencia de comparadores externos. El método implementado tampoco incluye el término de fidelidad con la imagen ruidosa usado en el artículo de Elad y Aharon.</a:t>
            </a:r>
          </a:p>
          <a:p>
            <a:endParaRPr/>
          </a:p>
          <a:p>
            <a:r>
              <a:t>Proponer como continuación varias imágenes, múltiples semillas y niveles de sigma, intervalos de confianza, una regla OMP basada en error y comparaciones bajo el mismo protocolo.</a:t>
            </a:r>
          </a:p>
          <a:p>
            <a:endParaRPr/>
          </a:p>
          <a:p>
            <a:r>
              <a:t>Frase final sugerida: el aprendizaje de diccionarios ofrece una regularización interpretable, pero la dispersión debe seleccionarse de acuerdo con el ruido y validarse en datos independientes.</a:t>
            </a:r>
          </a:p>
          <a:p>
            <a:endParaRPr/>
          </a:p>
          <a:p>
            <a:r>
              <a:t>Abrir el espacio para preguntas.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9B3648E5-BC4E-4714-B7BE-43F219A0E408}"/>
              </a:ext>
            </a:extLst>
          </p:cNvPr>
          <p:cNvSpPr>
            <a:spLocks noGrp="1"/>
          </p:cNvSpPr>
          <p:nvPr/>
        </p:nvSpPr>
        <p:spPr>
          <a:xfrm>
            <a:off x="685800" y="781050"/>
            <a:ext cx="5238750" cy="1866900"/>
          </a:xfrm>
          <a:prstGeom prst="rect">
            <a:avLst/>
          </a:prstGeom>
          <a:noFill/>
          <a:ln w="0">
            <a:noFill/>
          </a:ln>
        </p:spPr>
        <p:txBody>
          <a:bodyPr anchor="ctr">
            <a:noAutofit/>
          </a:bodyPr>
          <a:lstStyle/>
          <a:p>
            <a:pPr algn="l">
              <a:defRPr sz="3600" b="1">
                <a:solidFill>
                  <a:srgbClr val="17324D"/>
                </a:solidFill>
                <a:latin typeface="Arial"/>
                <a:ea typeface="Arial"/>
                <a:cs typeface="Arial"/>
              </a:defRPr>
            </a:pPr>
            <a:r>
              <a:rPr sz="3600" b="1">
                <a:solidFill>
                  <a:srgbClr val="17324D"/>
                </a:solidFill>
                <a:latin typeface="Arial"/>
                <a:ea typeface="Arial"/>
                <a:cs typeface="Arial"/>
              </a:rPr>
              <a:t>K-SVD para reconstrucción y eliminación de ruido</a:t>
            </a:r>
          </a:p>
        </p:txBody>
      </p:sp>
      <p:sp>
        <p:nvSpPr>
          <p:cNvPr id="2" name="Rechteck 1">
            <a:extLst>
              <a:ext uri="{FF2B5EF4-FFF2-40B4-BE49-F238E27FC236}">
                <a16:creationId xmlns:a16="http://schemas.microsoft.com/office/drawing/2014/main" id="{A6E5B7E3-4183-4640-88CA-716654B0E7DC}"/>
              </a:ext>
            </a:extLst>
          </p:cNvPr>
          <p:cNvSpPr>
            <a:spLocks noGrp="1"/>
          </p:cNvSpPr>
          <p:nvPr/>
        </p:nvSpPr>
        <p:spPr>
          <a:xfrm>
            <a:off x="723900" y="2800350"/>
            <a:ext cx="4953000" cy="495300"/>
          </a:xfrm>
          <a:prstGeom prst="rect">
            <a:avLst/>
          </a:prstGeom>
          <a:noFill/>
          <a:ln w="0">
            <a:noFill/>
          </a:ln>
        </p:spPr>
        <p:txBody>
          <a:bodyPr anchor="ctr">
            <a:noAutofit/>
          </a:bodyPr>
          <a:lstStyle/>
          <a:p>
            <a:pPr algn="l">
              <a:defRPr sz="1950" b="0">
                <a:solidFill>
                  <a:srgbClr val="1F5A8A"/>
                </a:solidFill>
                <a:latin typeface="Arial"/>
                <a:ea typeface="Arial"/>
                <a:cs typeface="Arial"/>
              </a:defRPr>
            </a:pPr>
            <a:r>
              <a:rPr sz="1950" b="0">
                <a:solidFill>
                  <a:srgbClr val="1F5A8A"/>
                </a:solidFill>
                <a:latin typeface="Arial"/>
                <a:ea typeface="Arial"/>
                <a:cs typeface="Arial"/>
              </a:rPr>
              <a:t>Implementación y resultados experimentales</a:t>
            </a:r>
          </a:p>
        </p:txBody>
      </p:sp>
      <p:sp>
        <p:nvSpPr>
          <p:cNvPr id="3" name="Rechteck 2">
            <a:extLst>
              <a:ext uri="{FF2B5EF4-FFF2-40B4-BE49-F238E27FC236}">
                <a16:creationId xmlns:a16="http://schemas.microsoft.com/office/drawing/2014/main" id="{EEB505CA-128A-46A6-A28B-0F84A03277F7}"/>
              </a:ext>
            </a:extLst>
          </p:cNvPr>
          <p:cNvSpPr>
            <a:spLocks noGrp="1"/>
          </p:cNvSpPr>
          <p:nvPr/>
        </p:nvSpPr>
        <p:spPr>
          <a:xfrm>
            <a:off x="723900" y="3714750"/>
            <a:ext cx="4762500" cy="1238250"/>
          </a:xfrm>
          <a:prstGeom prst="rect">
            <a:avLst/>
          </a:prstGeom>
          <a:noFill/>
          <a:ln w="0">
            <a:noFill/>
          </a:ln>
        </p:spPr>
        <p:txBody>
          <a:bodyPr anchor="ctr">
            <a:noAutofit/>
          </a:bodyPr>
          <a:lstStyle/>
          <a:p>
            <a:pPr algn="l">
              <a:defRPr sz="1350" b="0">
                <a:solidFill>
                  <a:srgbClr val="17212B"/>
                </a:solidFill>
                <a:latin typeface="Arial"/>
                <a:ea typeface="Arial"/>
                <a:cs typeface="Arial"/>
              </a:defRPr>
            </a:pPr>
            <a:r>
              <a:rPr sz="1350" b="0" dirty="0">
                <a:solidFill>
                  <a:srgbClr val="17212B"/>
                </a:solidFill>
                <a:latin typeface="Arial"/>
                <a:ea typeface="Arial"/>
                <a:cs typeface="Arial"/>
              </a:rPr>
              <a:t>Sarah Vásquez · </a:t>
            </a:r>
            <a:r>
              <a:rPr sz="1350" b="0" dirty="0" err="1">
                <a:solidFill>
                  <a:srgbClr val="17212B"/>
                </a:solidFill>
                <a:latin typeface="Arial"/>
                <a:ea typeface="Arial"/>
                <a:cs typeface="Arial"/>
              </a:rPr>
              <a:t>datos</a:t>
            </a:r>
            <a:r>
              <a:rPr sz="1350" b="0" dirty="0">
                <a:solidFill>
                  <a:srgbClr val="17212B"/>
                </a:solidFill>
                <a:latin typeface="Arial"/>
                <a:ea typeface="Arial"/>
                <a:cs typeface="Arial"/>
              </a:rPr>
              <a:t> y parches</a:t>
            </a:r>
          </a:p>
          <a:p>
            <a:pPr algn="l">
              <a:defRPr sz="1350" b="0">
                <a:solidFill>
                  <a:srgbClr val="17212B"/>
                </a:solidFill>
                <a:latin typeface="Arial"/>
                <a:ea typeface="Arial"/>
                <a:cs typeface="Arial"/>
              </a:defRPr>
            </a:pPr>
            <a:r>
              <a:rPr sz="1350" b="0" dirty="0">
                <a:solidFill>
                  <a:srgbClr val="17212B"/>
                </a:solidFill>
                <a:latin typeface="Arial"/>
                <a:ea typeface="Arial"/>
                <a:cs typeface="Arial"/>
              </a:rPr>
              <a:t>Alan Edgar</a:t>
            </a:r>
            <a:r>
              <a:rPr lang="es-MX" sz="1350" dirty="0">
                <a:solidFill>
                  <a:srgbClr val="17212B"/>
                </a:solidFill>
                <a:latin typeface="Arial"/>
                <a:ea typeface="Arial"/>
                <a:cs typeface="Arial"/>
              </a:rPr>
              <a:t> Rangel</a:t>
            </a:r>
            <a:r>
              <a:rPr sz="1350" b="0" dirty="0">
                <a:solidFill>
                  <a:srgbClr val="17212B"/>
                </a:solidFill>
                <a:latin typeface="Arial"/>
                <a:ea typeface="Arial"/>
                <a:cs typeface="Arial"/>
              </a:rPr>
              <a:t> · OMP y K-SVD</a:t>
            </a:r>
          </a:p>
          <a:p>
            <a:pPr algn="l">
              <a:defRPr sz="1350" b="0">
                <a:solidFill>
                  <a:srgbClr val="17212B"/>
                </a:solidFill>
                <a:latin typeface="Arial"/>
                <a:ea typeface="Arial"/>
                <a:cs typeface="Arial"/>
              </a:defRPr>
            </a:pPr>
            <a:r>
              <a:rPr sz="1350" b="0" dirty="0">
                <a:solidFill>
                  <a:srgbClr val="17212B"/>
                </a:solidFill>
                <a:latin typeface="Arial"/>
                <a:ea typeface="Arial"/>
                <a:cs typeface="Arial"/>
              </a:rPr>
              <a:t>Sergio</a:t>
            </a:r>
            <a:r>
              <a:rPr lang="es-MX" sz="1350" b="0" dirty="0">
                <a:solidFill>
                  <a:srgbClr val="17212B"/>
                </a:solidFill>
                <a:latin typeface="Arial"/>
                <a:ea typeface="Arial"/>
                <a:cs typeface="Arial"/>
              </a:rPr>
              <a:t> Arizmendi</a:t>
            </a:r>
            <a:r>
              <a:rPr sz="1350" b="0" dirty="0">
                <a:solidFill>
                  <a:srgbClr val="17212B"/>
                </a:solidFill>
                <a:latin typeface="Arial"/>
                <a:ea typeface="Arial"/>
                <a:cs typeface="Arial"/>
              </a:rPr>
              <a:t> · </a:t>
            </a:r>
            <a:r>
              <a:rPr sz="1350" b="0" dirty="0" err="1">
                <a:solidFill>
                  <a:srgbClr val="17212B"/>
                </a:solidFill>
                <a:latin typeface="Arial"/>
                <a:ea typeface="Arial"/>
                <a:cs typeface="Arial"/>
              </a:rPr>
              <a:t>experimentos</a:t>
            </a:r>
            <a:r>
              <a:rPr sz="1350" b="0" dirty="0">
                <a:solidFill>
                  <a:srgbClr val="17212B"/>
                </a:solidFill>
                <a:latin typeface="Arial"/>
                <a:ea typeface="Arial"/>
                <a:cs typeface="Arial"/>
              </a:rPr>
              <a:t> y </a:t>
            </a:r>
            <a:r>
              <a:rPr sz="1350" b="0" dirty="0" err="1">
                <a:solidFill>
                  <a:srgbClr val="17212B"/>
                </a:solidFill>
                <a:latin typeface="Arial"/>
                <a:ea typeface="Arial"/>
                <a:cs typeface="Arial"/>
              </a:rPr>
              <a:t>métricas</a:t>
            </a:r>
            <a:endParaRPr sz="1350" b="0" dirty="0">
              <a:solidFill>
                <a:srgbClr val="17212B"/>
              </a:solidFill>
              <a:latin typeface="Arial"/>
              <a:ea typeface="Arial"/>
              <a:cs typeface="Arial"/>
            </a:endParaRPr>
          </a:p>
          <a:p>
            <a:pPr algn="l">
              <a:defRPr sz="1350" b="0">
                <a:solidFill>
                  <a:srgbClr val="17212B"/>
                </a:solidFill>
                <a:latin typeface="Arial"/>
                <a:ea typeface="Arial"/>
                <a:cs typeface="Arial"/>
              </a:defRPr>
            </a:pPr>
            <a:r>
              <a:rPr sz="1350" b="0" dirty="0">
                <a:solidFill>
                  <a:srgbClr val="17212B"/>
                </a:solidFill>
                <a:latin typeface="Arial"/>
                <a:ea typeface="Arial"/>
                <a:cs typeface="Arial"/>
              </a:rPr>
              <a:t>Areli</a:t>
            </a:r>
            <a:r>
              <a:rPr lang="es-MX" sz="1350" b="0" dirty="0">
                <a:solidFill>
                  <a:srgbClr val="17212B"/>
                </a:solidFill>
                <a:latin typeface="Arial"/>
                <a:ea typeface="Arial"/>
                <a:cs typeface="Arial"/>
              </a:rPr>
              <a:t> Sánchez</a:t>
            </a:r>
            <a:r>
              <a:rPr sz="1350" b="0" dirty="0">
                <a:solidFill>
                  <a:srgbClr val="17212B"/>
                </a:solidFill>
                <a:latin typeface="Arial"/>
                <a:ea typeface="Arial"/>
                <a:cs typeface="Arial"/>
              </a:rPr>
              <a:t> · </a:t>
            </a:r>
            <a:r>
              <a:rPr sz="1350" b="0" dirty="0" err="1">
                <a:solidFill>
                  <a:srgbClr val="17212B"/>
                </a:solidFill>
                <a:latin typeface="Arial"/>
                <a:ea typeface="Arial"/>
                <a:cs typeface="Arial"/>
              </a:rPr>
              <a:t>integración</a:t>
            </a:r>
            <a:r>
              <a:rPr sz="1350" b="0" dirty="0">
                <a:solidFill>
                  <a:srgbClr val="17212B"/>
                </a:solidFill>
                <a:latin typeface="Arial"/>
                <a:ea typeface="Arial"/>
                <a:cs typeface="Arial"/>
              </a:rPr>
              <a:t> y </a:t>
            </a:r>
            <a:r>
              <a:rPr sz="1350" b="0" dirty="0" err="1">
                <a:solidFill>
                  <a:srgbClr val="17212B"/>
                </a:solidFill>
                <a:latin typeface="Arial"/>
                <a:ea typeface="Arial"/>
                <a:cs typeface="Arial"/>
              </a:rPr>
              <a:t>conclusiones</a:t>
            </a:r>
            <a:endParaRPr sz="1350" b="0" dirty="0">
              <a:solidFill>
                <a:srgbClr val="17212B"/>
              </a:solidFill>
              <a:latin typeface="Arial"/>
              <a:ea typeface="Arial"/>
              <a:cs typeface="Arial"/>
            </a:endParaRPr>
          </a:p>
        </p:txBody>
      </p:sp>
      <p:sp>
        <p:nvSpPr>
          <p:cNvPr id="4" name="Rechteck 3">
            <a:extLst>
              <a:ext uri="{FF2B5EF4-FFF2-40B4-BE49-F238E27FC236}">
                <a16:creationId xmlns:a16="http://schemas.microsoft.com/office/drawing/2014/main" id="{16B974C8-E32C-4D02-AB04-BF78ECAE8A88}"/>
              </a:ext>
            </a:extLst>
          </p:cNvPr>
          <p:cNvSpPr>
            <a:spLocks noGrp="1"/>
          </p:cNvSpPr>
          <p:nvPr/>
        </p:nvSpPr>
        <p:spPr>
          <a:xfrm>
            <a:off x="723900" y="5219700"/>
            <a:ext cx="4762500" cy="400050"/>
          </a:xfrm>
          <a:prstGeom prst="rect">
            <a:avLst/>
          </a:prstGeom>
          <a:noFill/>
          <a:ln w="0">
            <a:noFill/>
          </a:ln>
        </p:spPr>
        <p:txBody>
          <a:bodyPr anchor="ctr">
            <a:noAutofit/>
          </a:bodyPr>
          <a:lstStyle/>
          <a:p>
            <a:pPr algn="l">
              <a:defRPr sz="1500" b="0">
                <a:solidFill>
                  <a:srgbClr val="53616E"/>
                </a:solidFill>
                <a:latin typeface="Arial"/>
                <a:ea typeface="Arial"/>
                <a:cs typeface="Arial"/>
              </a:defRPr>
            </a:pPr>
            <a:r>
              <a:rPr sz="1500" b="0">
                <a:solidFill>
                  <a:srgbClr val="53616E"/>
                </a:solidFill>
                <a:latin typeface="Arial"/>
                <a:ea typeface="Arial"/>
                <a:cs typeface="Arial"/>
              </a:rPr>
              <a:t>Matemáticas Computacionales · INAOE</a:t>
            </a:r>
          </a:p>
        </p:txBody>
      </p:sp>
      <p:pic>
        <p:nvPicPr>
          <p:cNvPr id="14" name="Grafik 13"/>
          <p:cNvPicPr>
            <a:picLocks noChangeAspect="1"/>
          </p:cNvPicPr>
          <p:nvPr/>
        </p:nvPicPr>
        <p:blipFill>
          <a:blip r:embed="rId3"/>
          <a:stretch/>
        </p:blipFill>
        <p:spPr>
          <a:xfrm>
            <a:off x="6191250" y="1036072"/>
            <a:ext cx="5334000" cy="3052305"/>
          </a:xfrm>
          <a:prstGeom prst="rect">
            <a:avLst/>
          </a:prstGeom>
        </p:spPr>
      </p:pic>
      <p:sp>
        <p:nvSpPr>
          <p:cNvPr id="6" name="Rechteck 5">
            <a:extLst>
              <a:ext uri="{FF2B5EF4-FFF2-40B4-BE49-F238E27FC236}">
                <a16:creationId xmlns:a16="http://schemas.microsoft.com/office/drawing/2014/main" id="{5688F98D-9A66-4B79-809A-A4AE0CF9A5E5}"/>
              </a:ext>
            </a:extLst>
          </p:cNvPr>
          <p:cNvSpPr>
            <a:spLocks noGrp="1"/>
          </p:cNvSpPr>
          <p:nvPr/>
        </p:nvSpPr>
        <p:spPr>
          <a:xfrm>
            <a:off x="6810375" y="4686300"/>
            <a:ext cx="2095500" cy="628650"/>
          </a:xfrm>
          <a:prstGeom prst="rect">
            <a:avLst/>
          </a:prstGeom>
          <a:noFill/>
          <a:ln w="0">
            <a:noFill/>
          </a:ln>
        </p:spPr>
        <p:txBody>
          <a:bodyPr anchor="ctr">
            <a:noAutofit/>
          </a:bodyPr>
          <a:lstStyle/>
          <a:p>
            <a:pPr algn="l">
              <a:defRPr sz="3150" b="1">
                <a:solidFill>
                  <a:srgbClr val="D76F3E"/>
                </a:solidFill>
                <a:latin typeface="Arial"/>
                <a:ea typeface="Arial"/>
                <a:cs typeface="Arial"/>
              </a:defRPr>
            </a:pPr>
            <a:r>
              <a:rPr sz="3150" b="1">
                <a:solidFill>
                  <a:srgbClr val="D76F3E"/>
                </a:solidFill>
                <a:latin typeface="Arial"/>
                <a:ea typeface="Arial"/>
                <a:cs typeface="Arial"/>
              </a:rPr>
              <a:t>26.12 dB</a:t>
            </a:r>
          </a:p>
        </p:txBody>
      </p:sp>
      <p:sp>
        <p:nvSpPr>
          <p:cNvPr id="7" name="Rechteck 6">
            <a:extLst>
              <a:ext uri="{FF2B5EF4-FFF2-40B4-BE49-F238E27FC236}">
                <a16:creationId xmlns:a16="http://schemas.microsoft.com/office/drawing/2014/main" id="{AF5D7697-5C69-4464-9195-F41A494AFF39}"/>
              </a:ext>
            </a:extLst>
          </p:cNvPr>
          <p:cNvSpPr>
            <a:spLocks noGrp="1"/>
          </p:cNvSpPr>
          <p:nvPr/>
        </p:nvSpPr>
        <p:spPr>
          <a:xfrm>
            <a:off x="6829425" y="5257800"/>
            <a:ext cx="3429000" cy="381000"/>
          </a:xfrm>
          <a:prstGeom prst="rect">
            <a:avLst/>
          </a:prstGeom>
          <a:noFill/>
          <a:ln w="0">
            <a:noFill/>
          </a:ln>
        </p:spPr>
        <p:txBody>
          <a:bodyPr anchor="ctr">
            <a:noAutofit/>
          </a:bodyPr>
          <a:lstStyle/>
          <a:p>
            <a:pPr algn="l">
              <a:defRPr sz="1575" b="0">
                <a:solidFill>
                  <a:srgbClr val="17212B"/>
                </a:solidFill>
                <a:latin typeface="Arial"/>
                <a:ea typeface="Arial"/>
                <a:cs typeface="Arial"/>
              </a:defRPr>
            </a:pPr>
            <a:r>
              <a:rPr sz="1575" b="0">
                <a:solidFill>
                  <a:srgbClr val="17212B"/>
                </a:solidFill>
                <a:latin typeface="Arial"/>
                <a:ea typeface="Arial"/>
                <a:cs typeface="Arial"/>
              </a:rPr>
              <a:t>mejor caso ruidoso · T0=4</a:t>
            </a:r>
          </a:p>
        </p:txBody>
      </p:sp>
      <p:sp>
        <p:nvSpPr>
          <p:cNvPr id="8" name="Rechteck 7">
            <a:extLst>
              <a:ext uri="{FF2B5EF4-FFF2-40B4-BE49-F238E27FC236}">
                <a16:creationId xmlns:a16="http://schemas.microsoft.com/office/drawing/2014/main" id="{655146FD-1741-4F3E-B233-4AD1A811A4EF}"/>
              </a:ext>
            </a:extLst>
          </p:cNvPr>
          <p:cNvSpPr>
            <a:spLocks noGrp="1"/>
          </p:cNvSpPr>
          <p:nvPr/>
        </p:nvSpPr>
        <p:spPr>
          <a:xfrm>
            <a:off x="6829425" y="5667375"/>
            <a:ext cx="3714750" cy="342900"/>
          </a:xfrm>
          <a:prstGeom prst="rect">
            <a:avLst/>
          </a:prstGeom>
          <a:noFill/>
          <a:ln w="0">
            <a:noFill/>
          </a:ln>
        </p:spPr>
        <p:txBody>
          <a:bodyPr anchor="ctr">
            <a:noAutofit/>
          </a:bodyPr>
          <a:lstStyle/>
          <a:p>
            <a:pPr algn="l">
              <a:defRPr sz="1500" b="1">
                <a:solidFill>
                  <a:srgbClr val="1F5A8A"/>
                </a:solidFill>
                <a:latin typeface="Arial"/>
                <a:ea typeface="Arial"/>
                <a:cs typeface="Arial"/>
              </a:defRPr>
            </a:pPr>
            <a:r>
              <a:rPr sz="1500" b="1">
                <a:solidFill>
                  <a:srgbClr val="1F5A8A"/>
                </a:solidFill>
                <a:latin typeface="Arial"/>
                <a:ea typeface="Arial"/>
                <a:cs typeface="Arial"/>
              </a:rPr>
              <a:t>+4.03 dB frente a la entrada</a:t>
            </a:r>
          </a:p>
        </p:txBody>
      </p:sp>
      <p:sp>
        <p:nvSpPr>
          <p:cNvPr id="9" name="Rechteck 8">
            <a:extLst>
              <a:ext uri="{FF2B5EF4-FFF2-40B4-BE49-F238E27FC236}">
                <a16:creationId xmlns:a16="http://schemas.microsoft.com/office/drawing/2014/main" id="{1663B632-782B-4834-8267-4D41629E74E5}"/>
              </a:ext>
            </a:extLst>
          </p:cNvPr>
          <p:cNvSpPr>
            <a:spLocks noGrp="1"/>
          </p:cNvSpPr>
          <p:nvPr/>
        </p:nvSpPr>
        <p:spPr>
          <a:xfrm>
            <a:off x="7334250" y="6419850"/>
            <a:ext cx="4238625" cy="228600"/>
          </a:xfrm>
          <a:prstGeom prst="rect">
            <a:avLst/>
          </a:prstGeom>
          <a:noFill/>
          <a:ln w="0">
            <a:noFill/>
          </a:ln>
        </p:spPr>
        <p:txBody>
          <a:bodyPr anchor="ctr">
            <a:noAutofit/>
          </a:bodyPr>
          <a:lstStyle/>
          <a:p>
            <a:pPr algn="r">
              <a:defRPr sz="1050" b="1">
                <a:solidFill>
                  <a:srgbClr val="1F5A8A"/>
                </a:solidFill>
                <a:latin typeface="Arial"/>
                <a:ea typeface="Arial"/>
                <a:cs typeface="Arial"/>
              </a:defRPr>
            </a:pPr>
            <a:r>
              <a:rPr sz="1050" b="1">
                <a:solidFill>
                  <a:srgbClr val="1F5A8A"/>
                </a:solidFill>
                <a:latin typeface="Arial"/>
                <a:ea typeface="Arial"/>
                <a:cs typeface="Arial"/>
              </a:rPr>
              <a:t>Sarah · Integrante 1</a:t>
            </a:r>
          </a:p>
        </p:txBody>
      </p:sp>
    </p:spTree>
    <p:extLst>
      <p:ext uri="{BB962C8B-B14F-4D97-AF65-F5344CB8AC3E}">
        <p14:creationId xmlns:p14="http://schemas.microsoft.com/office/powerpoint/2010/main" val="1194624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9" name="Rechteck 8">
            <a:extLst>
              <a:ext uri="{FF2B5EF4-FFF2-40B4-BE49-F238E27FC236}">
                <a16:creationId xmlns:a16="http://schemas.microsoft.com/office/drawing/2014/main" id="{210DF5DD-4C49-4539-B221-C3F7DA5C811E}"/>
              </a:ext>
            </a:extLst>
          </p:cNvPr>
          <p:cNvSpPr>
            <a:spLocks noGrp="1"/>
          </p:cNvSpPr>
          <p:nvPr/>
        </p:nvSpPr>
        <p:spPr>
          <a:xfrm>
            <a:off x="647700" y="381000"/>
            <a:ext cx="10096500" cy="628650"/>
          </a:xfrm>
          <a:prstGeom prst="rect">
            <a:avLst/>
          </a:prstGeom>
          <a:noFill/>
          <a:ln w="0">
            <a:noFill/>
          </a:ln>
        </p:spPr>
        <p:txBody>
          <a:bodyPr anchor="ctr">
            <a:noAutofit/>
          </a:bodyPr>
          <a:lstStyle/>
          <a:p>
            <a:pPr algn="l">
              <a:defRPr sz="2700" b="1">
                <a:solidFill>
                  <a:srgbClr val="17324D"/>
                </a:solidFill>
                <a:latin typeface="Arial"/>
                <a:ea typeface="Arial"/>
                <a:cs typeface="Arial"/>
              </a:defRPr>
            </a:pPr>
            <a:r>
              <a:rPr sz="2700" b="1">
                <a:solidFill>
                  <a:srgbClr val="17324D"/>
                </a:solidFill>
                <a:latin typeface="Arial"/>
                <a:ea typeface="Arial"/>
                <a:cs typeface="Arial"/>
              </a:rPr>
              <a:t>Datos y contrato de parches</a:t>
            </a:r>
          </a:p>
        </p:txBody>
      </p:sp>
      <p:sp>
        <p:nvSpPr>
          <p:cNvPr id="2" name="Rechteck 1">
            <a:extLst>
              <a:ext uri="{FF2B5EF4-FFF2-40B4-BE49-F238E27FC236}">
                <a16:creationId xmlns:a16="http://schemas.microsoft.com/office/drawing/2014/main" id="{6E3F1CFC-CA92-47AD-82C4-47AE18029DEF}"/>
              </a:ext>
            </a:extLst>
          </p:cNvPr>
          <p:cNvSpPr>
            <a:spLocks noGrp="1"/>
          </p:cNvSpPr>
          <p:nvPr/>
        </p:nvSpPr>
        <p:spPr>
          <a:xfrm>
            <a:off x="11144250" y="419100"/>
            <a:ext cx="419100" cy="323850"/>
          </a:xfrm>
          <a:prstGeom prst="rect">
            <a:avLst/>
          </a:prstGeom>
          <a:noFill/>
          <a:ln w="0">
            <a:noFill/>
          </a:ln>
        </p:spPr>
        <p:txBody>
          <a:bodyPr anchor="ctr">
            <a:noAutofit/>
          </a:bodyPr>
          <a:lstStyle/>
          <a:p>
            <a:pPr algn="r">
              <a:defRPr sz="1275" b="1">
                <a:solidFill>
                  <a:srgbClr val="D76F3E"/>
                </a:solidFill>
                <a:latin typeface="Arial"/>
                <a:ea typeface="Arial"/>
                <a:cs typeface="Arial"/>
              </a:defRPr>
            </a:pPr>
            <a:r>
              <a:rPr sz="1275" b="1">
                <a:solidFill>
                  <a:srgbClr val="D76F3E"/>
                </a:solidFill>
                <a:latin typeface="Arial"/>
                <a:ea typeface="Arial"/>
                <a:cs typeface="Arial"/>
              </a:rPr>
              <a:t>2</a:t>
            </a:r>
          </a:p>
        </p:txBody>
      </p:sp>
      <p:sp>
        <p:nvSpPr>
          <p:cNvPr id="3" name="Rechteck 2">
            <a:extLst>
              <a:ext uri="{FF2B5EF4-FFF2-40B4-BE49-F238E27FC236}">
                <a16:creationId xmlns:a16="http://schemas.microsoft.com/office/drawing/2014/main" id="{9F640D8A-9327-4188-918A-09CC294BB3A0}"/>
              </a:ext>
            </a:extLst>
          </p:cNvPr>
          <p:cNvSpPr>
            <a:spLocks noGrp="1"/>
          </p:cNvSpPr>
          <p:nvPr/>
        </p:nvSpPr>
        <p:spPr>
          <a:xfrm>
            <a:off x="647700" y="6457950"/>
            <a:ext cx="5715000" cy="209550"/>
          </a:xfrm>
          <a:prstGeom prst="rect">
            <a:avLst/>
          </a:prstGeom>
          <a:noFill/>
          <a:ln w="0">
            <a:noFill/>
          </a:ln>
        </p:spPr>
        <p:txBody>
          <a:bodyPr anchor="ctr">
            <a:noAutofit/>
          </a:bodyPr>
          <a:lstStyle/>
          <a:p>
            <a:pPr algn="l">
              <a:defRPr sz="1050" b="0">
                <a:solidFill>
                  <a:srgbClr val="53616E"/>
                </a:solidFill>
                <a:latin typeface="Arial"/>
                <a:ea typeface="Arial"/>
                <a:cs typeface="Arial"/>
              </a:defRPr>
            </a:pPr>
            <a:r>
              <a:rPr sz="1050" b="0">
                <a:solidFill>
                  <a:srgbClr val="53616E"/>
                </a:solidFill>
                <a:latin typeface="Arial"/>
                <a:ea typeface="Arial"/>
                <a:cs typeface="Arial"/>
              </a:rPr>
              <a:t>Matemáticas Computacionales · K-SVD</a:t>
            </a:r>
          </a:p>
        </p:txBody>
      </p:sp>
      <p:sp>
        <p:nvSpPr>
          <p:cNvPr id="4" name="Rechteck 3">
            <a:extLst>
              <a:ext uri="{FF2B5EF4-FFF2-40B4-BE49-F238E27FC236}">
                <a16:creationId xmlns:a16="http://schemas.microsoft.com/office/drawing/2014/main" id="{4377D75E-962F-48D3-A9B3-9DC6A1FE4840}"/>
              </a:ext>
            </a:extLst>
          </p:cNvPr>
          <p:cNvSpPr>
            <a:spLocks noGrp="1"/>
          </p:cNvSpPr>
          <p:nvPr/>
        </p:nvSpPr>
        <p:spPr>
          <a:xfrm>
            <a:off x="723900" y="1238250"/>
            <a:ext cx="4476750" cy="4095750"/>
          </a:xfrm>
          <a:prstGeom prst="rect">
            <a:avLst/>
          </a:prstGeom>
          <a:noFill/>
          <a:ln w="0">
            <a:noFill/>
          </a:ln>
        </p:spPr>
        <p:txBody>
          <a:bodyPr anchor="ctr">
            <a:noAutofit/>
          </a:bodyPr>
          <a:lstStyle/>
          <a:p>
            <a:pPr algn="l">
              <a:defRPr sz="1725" b="0">
                <a:solidFill>
                  <a:srgbClr val="17212B"/>
                </a:solidFill>
                <a:latin typeface="Arial"/>
                <a:ea typeface="Arial"/>
                <a:cs typeface="Arial"/>
              </a:defRPr>
            </a:pPr>
            <a:r>
              <a:rPr sz="1725" b="0">
                <a:solidFill>
                  <a:srgbClr val="17212B"/>
                </a:solidFill>
                <a:latin typeface="Arial"/>
                <a:ea typeface="Arial"/>
                <a:cs typeface="Arial"/>
              </a:rPr>
              <a:t>• camera 256×256 para aprender</a:t>
            </a:r>
          </a:p>
          <a:p>
            <a:endParaRPr sz="1725" b="0">
              <a:solidFill>
                <a:srgbClr val="17212B"/>
              </a:solidFill>
              <a:latin typeface="Arial"/>
              <a:ea typeface="Arial"/>
              <a:cs typeface="Arial"/>
            </a:endParaRPr>
          </a:p>
          <a:p>
            <a:pPr algn="l">
              <a:defRPr sz="1725" b="0">
                <a:solidFill>
                  <a:srgbClr val="17212B"/>
                </a:solidFill>
                <a:latin typeface="Arial"/>
                <a:ea typeface="Arial"/>
                <a:cs typeface="Arial"/>
              </a:defRPr>
            </a:pPr>
            <a:r>
              <a:rPr sz="1725" b="0">
                <a:solidFill>
                  <a:srgbClr val="17212B"/>
                </a:solidFill>
                <a:latin typeface="Arial"/>
                <a:ea typeface="Arial"/>
                <a:cs typeface="Arial"/>
              </a:rPr>
              <a:t>• coins 128×128 para probar</a:t>
            </a:r>
          </a:p>
          <a:p>
            <a:endParaRPr sz="1725" b="0">
              <a:solidFill>
                <a:srgbClr val="17212B"/>
              </a:solidFill>
              <a:latin typeface="Arial"/>
              <a:ea typeface="Arial"/>
              <a:cs typeface="Arial"/>
            </a:endParaRPr>
          </a:p>
          <a:p>
            <a:pPr algn="l">
              <a:defRPr sz="1725" b="0">
                <a:solidFill>
                  <a:srgbClr val="17212B"/>
                </a:solidFill>
                <a:latin typeface="Arial"/>
                <a:ea typeface="Arial"/>
                <a:cs typeface="Arial"/>
              </a:defRPr>
            </a:pPr>
            <a:r>
              <a:rPr sz="1725" b="0">
                <a:solidFill>
                  <a:srgbClr val="17212B"/>
                </a:solidFill>
                <a:latin typeface="Arial"/>
                <a:ea typeface="Arial"/>
                <a:cs typeface="Arial"/>
              </a:rPr>
              <a:t>• parches 8×8 · paso 4 · orden C</a:t>
            </a:r>
          </a:p>
          <a:p>
            <a:endParaRPr sz="1725" b="0">
              <a:solidFill>
                <a:srgbClr val="17212B"/>
              </a:solidFill>
              <a:latin typeface="Arial"/>
              <a:ea typeface="Arial"/>
              <a:cs typeface="Arial"/>
            </a:endParaRPr>
          </a:p>
          <a:p>
            <a:pPr algn="l">
              <a:defRPr sz="1725" b="0">
                <a:solidFill>
                  <a:srgbClr val="17212B"/>
                </a:solidFill>
                <a:latin typeface="Arial"/>
                <a:ea typeface="Arial"/>
                <a:cs typeface="Arial"/>
              </a:defRPr>
            </a:pPr>
            <a:r>
              <a:rPr sz="1725" b="0">
                <a:solidFill>
                  <a:srgbClr val="17212B"/>
                </a:solidFill>
                <a:latin typeface="Arial"/>
                <a:ea typeface="Arial"/>
                <a:cs typeface="Arial"/>
              </a:rPr>
              <a:t>• 1500 muestras sin reemplazo · RNG 42</a:t>
            </a:r>
          </a:p>
          <a:p>
            <a:endParaRPr sz="1725" b="0">
              <a:solidFill>
                <a:srgbClr val="17212B"/>
              </a:solidFill>
              <a:latin typeface="Arial"/>
              <a:ea typeface="Arial"/>
              <a:cs typeface="Arial"/>
            </a:endParaRPr>
          </a:p>
          <a:p>
            <a:pPr algn="l">
              <a:defRPr sz="1725" b="0">
                <a:solidFill>
                  <a:srgbClr val="17212B"/>
                </a:solidFill>
                <a:latin typeface="Arial"/>
                <a:ea typeface="Arial"/>
                <a:cs typeface="Arial"/>
              </a:defRPr>
            </a:pPr>
            <a:r>
              <a:rPr sz="1725" b="0">
                <a:solidFill>
                  <a:srgbClr val="17212B"/>
                </a:solidFill>
                <a:latin typeface="Arial"/>
                <a:ea typeface="Arial"/>
                <a:cs typeface="Arial"/>
              </a:rPr>
              <a:t>• centrado por media · sin normalizar</a:t>
            </a:r>
          </a:p>
          <a:p>
            <a:endParaRPr sz="1725" b="0">
              <a:solidFill>
                <a:srgbClr val="17212B"/>
              </a:solidFill>
              <a:latin typeface="Arial"/>
              <a:ea typeface="Arial"/>
              <a:cs typeface="Arial"/>
            </a:endParaRPr>
          </a:p>
          <a:p>
            <a:pPr algn="l">
              <a:defRPr sz="1725" b="0">
                <a:solidFill>
                  <a:srgbClr val="17212B"/>
                </a:solidFill>
                <a:latin typeface="Arial"/>
                <a:ea typeface="Arial"/>
                <a:cs typeface="Arial"/>
              </a:defRPr>
            </a:pPr>
            <a:r>
              <a:rPr sz="1725" b="0">
                <a:solidFill>
                  <a:srgbClr val="17212B"/>
                </a:solidFill>
                <a:latin typeface="Arial"/>
                <a:ea typeface="Arial"/>
                <a:cs typeface="Arial"/>
              </a:rPr>
              <a:t>• ensamblado por promedio · sin clipping</a:t>
            </a:r>
          </a:p>
        </p:txBody>
      </p:sp>
      <p:sp>
        <p:nvSpPr>
          <p:cNvPr id="6" name="Rechteck 5">
            <a:extLst>
              <a:ext uri="{FF2B5EF4-FFF2-40B4-BE49-F238E27FC236}">
                <a16:creationId xmlns:a16="http://schemas.microsoft.com/office/drawing/2014/main" id="{0CF1A1E4-9B92-4C26-B5A2-0B04A708C00C}"/>
              </a:ext>
            </a:extLst>
          </p:cNvPr>
          <p:cNvSpPr>
            <a:spLocks noGrp="1"/>
          </p:cNvSpPr>
          <p:nvPr/>
        </p:nvSpPr>
        <p:spPr>
          <a:xfrm>
            <a:off x="5476875" y="5095875"/>
            <a:ext cx="5715000" cy="552450"/>
          </a:xfrm>
          <a:prstGeom prst="rect">
            <a:avLst/>
          </a:prstGeom>
          <a:noFill/>
          <a:ln w="0">
            <a:noFill/>
          </a:ln>
        </p:spPr>
        <p:txBody>
          <a:bodyPr anchor="ctr">
            <a:noAutofit/>
          </a:bodyPr>
          <a:lstStyle/>
          <a:p>
            <a:pPr algn="ctr">
              <a:defRPr sz="1800" b="1">
                <a:solidFill>
                  <a:srgbClr val="1F5A8A"/>
                </a:solidFill>
                <a:latin typeface="Arial"/>
                <a:ea typeface="Arial"/>
                <a:cs typeface="Arial"/>
              </a:defRPr>
            </a:pPr>
            <a:r>
              <a:rPr sz="1800" b="1">
                <a:solidFill>
                  <a:srgbClr val="1F5A8A"/>
                </a:solidFill>
                <a:latin typeface="Arial"/>
                <a:ea typeface="Arial"/>
                <a:cs typeface="Arial"/>
              </a:rPr>
              <a:t>Los cuatro arrays coinciden elemento a elemento con el paquete de Sarah.</a:t>
            </a:r>
          </a:p>
        </p:txBody>
      </p:sp>
      <p:sp>
        <p:nvSpPr>
          <p:cNvPr id="7" name="Rechteck 6">
            <a:extLst>
              <a:ext uri="{FF2B5EF4-FFF2-40B4-BE49-F238E27FC236}">
                <a16:creationId xmlns:a16="http://schemas.microsoft.com/office/drawing/2014/main" id="{98A0B696-49F6-436C-BA27-2610CB33E16B}"/>
              </a:ext>
            </a:extLst>
          </p:cNvPr>
          <p:cNvSpPr>
            <a:spLocks noGrp="1"/>
          </p:cNvSpPr>
          <p:nvPr/>
        </p:nvSpPr>
        <p:spPr>
          <a:xfrm>
            <a:off x="5476875" y="5715000"/>
            <a:ext cx="5715000" cy="381000"/>
          </a:xfrm>
          <a:prstGeom prst="rect">
            <a:avLst/>
          </a:prstGeom>
          <a:noFill/>
          <a:ln w="0">
            <a:noFill/>
          </a:ln>
        </p:spPr>
        <p:txBody>
          <a:bodyPr anchor="ctr">
            <a:noAutofit/>
          </a:bodyPr>
          <a:lstStyle/>
          <a:p>
            <a:pPr algn="ctr">
              <a:defRPr sz="1425" b="0">
                <a:solidFill>
                  <a:srgbClr val="53616E"/>
                </a:solidFill>
                <a:latin typeface="Arial"/>
                <a:ea typeface="Arial"/>
                <a:cs typeface="Arial"/>
              </a:defRPr>
            </a:pPr>
            <a:r>
              <a:rPr sz="1425" b="0">
                <a:solidFill>
                  <a:srgbClr val="53616E"/>
                </a:solidFill>
                <a:latin typeface="Arial"/>
                <a:ea typeface="Arial"/>
                <a:cs typeface="Arial"/>
              </a:rPr>
              <a:t>Error máximo extraer → ensamblar: 1.11×10⁻¹⁶</a:t>
            </a:r>
          </a:p>
        </p:txBody>
      </p:sp>
      <p:sp>
        <p:nvSpPr>
          <p:cNvPr id="8" name="Rechteck 7">
            <a:extLst>
              <a:ext uri="{FF2B5EF4-FFF2-40B4-BE49-F238E27FC236}">
                <a16:creationId xmlns:a16="http://schemas.microsoft.com/office/drawing/2014/main" id="{BA077E0C-0F50-42D4-877E-ADEC55658C36}"/>
              </a:ext>
            </a:extLst>
          </p:cNvPr>
          <p:cNvSpPr>
            <a:spLocks noGrp="1"/>
          </p:cNvSpPr>
          <p:nvPr/>
        </p:nvSpPr>
        <p:spPr>
          <a:xfrm>
            <a:off x="7334250" y="6419850"/>
            <a:ext cx="4238625" cy="228600"/>
          </a:xfrm>
          <a:prstGeom prst="rect">
            <a:avLst/>
          </a:prstGeom>
          <a:noFill/>
          <a:ln w="0">
            <a:noFill/>
          </a:ln>
        </p:spPr>
        <p:txBody>
          <a:bodyPr anchor="ctr">
            <a:noAutofit/>
          </a:bodyPr>
          <a:lstStyle/>
          <a:p>
            <a:pPr algn="r">
              <a:defRPr sz="1050" b="1">
                <a:solidFill>
                  <a:srgbClr val="1F5A8A"/>
                </a:solidFill>
                <a:latin typeface="Arial"/>
                <a:ea typeface="Arial"/>
                <a:cs typeface="Arial"/>
              </a:defRPr>
            </a:pPr>
            <a:r>
              <a:rPr sz="1050" b="1">
                <a:solidFill>
                  <a:srgbClr val="1F5A8A"/>
                </a:solidFill>
                <a:latin typeface="Arial"/>
                <a:ea typeface="Arial"/>
                <a:cs typeface="Arial"/>
              </a:rPr>
              <a:t>Sarah · Integrante 1</a:t>
            </a:r>
          </a:p>
        </p:txBody>
      </p:sp>
      <p:pic>
        <p:nvPicPr>
          <p:cNvPr id="10" name="Grafik 9">
            <a:extLst>
              <a:ext uri="{FF2B5EF4-FFF2-40B4-BE49-F238E27FC236}">
                <a16:creationId xmlns:a16="http://schemas.microsoft.com/office/drawing/2014/main" id="{A7F84F81-48B6-B69A-A204-2C171182C42E}"/>
              </a:ext>
            </a:extLst>
          </p:cNvPr>
          <p:cNvPicPr>
            <a:picLocks noChangeAspect="1"/>
          </p:cNvPicPr>
          <p:nvPr/>
        </p:nvPicPr>
        <p:blipFill>
          <a:blip r:embed="rId3"/>
          <a:stretch>
            <a:fillRect/>
          </a:stretch>
        </p:blipFill>
        <p:spPr>
          <a:xfrm>
            <a:off x="5390519" y="1616970"/>
            <a:ext cx="5887712" cy="2916930"/>
          </a:xfrm>
          <a:prstGeom prst="rect">
            <a:avLst/>
          </a:prstGeom>
        </p:spPr>
      </p:pic>
    </p:spTree>
    <p:extLst>
      <p:ext uri="{BB962C8B-B14F-4D97-AF65-F5344CB8AC3E}">
        <p14:creationId xmlns:p14="http://schemas.microsoft.com/office/powerpoint/2010/main" val="1065465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13" name="Rechteck 12">
            <a:extLst>
              <a:ext uri="{FF2B5EF4-FFF2-40B4-BE49-F238E27FC236}">
                <a16:creationId xmlns:a16="http://schemas.microsoft.com/office/drawing/2014/main" id="{002BCACB-571A-48F7-B93E-B1F9B8DF0B95}"/>
              </a:ext>
            </a:extLst>
          </p:cNvPr>
          <p:cNvSpPr>
            <a:spLocks noGrp="1"/>
          </p:cNvSpPr>
          <p:nvPr/>
        </p:nvSpPr>
        <p:spPr>
          <a:xfrm>
            <a:off x="647700" y="381000"/>
            <a:ext cx="10096500" cy="628650"/>
          </a:xfrm>
          <a:prstGeom prst="rect">
            <a:avLst/>
          </a:prstGeom>
          <a:noFill/>
          <a:ln w="0">
            <a:noFill/>
          </a:ln>
        </p:spPr>
        <p:txBody>
          <a:bodyPr anchor="ctr">
            <a:noAutofit/>
          </a:bodyPr>
          <a:lstStyle/>
          <a:p>
            <a:pPr algn="l">
              <a:defRPr sz="2700" b="1">
                <a:solidFill>
                  <a:srgbClr val="17324D"/>
                </a:solidFill>
                <a:latin typeface="Arial"/>
                <a:ea typeface="Arial"/>
                <a:cs typeface="Arial"/>
              </a:defRPr>
            </a:pPr>
            <a:r>
              <a:rPr sz="2700" b="1">
                <a:solidFill>
                  <a:srgbClr val="17324D"/>
                </a:solidFill>
                <a:latin typeface="Arial"/>
                <a:ea typeface="Arial"/>
                <a:cs typeface="Arial"/>
              </a:rPr>
              <a:t>Del parche al diccionario</a:t>
            </a:r>
          </a:p>
        </p:txBody>
      </p:sp>
      <p:sp>
        <p:nvSpPr>
          <p:cNvPr id="2" name="Rechteck 1">
            <a:extLst>
              <a:ext uri="{FF2B5EF4-FFF2-40B4-BE49-F238E27FC236}">
                <a16:creationId xmlns:a16="http://schemas.microsoft.com/office/drawing/2014/main" id="{88EF78AA-689E-4BF3-8B7D-5B5D5DBA1D86}"/>
              </a:ext>
            </a:extLst>
          </p:cNvPr>
          <p:cNvSpPr>
            <a:spLocks noGrp="1"/>
          </p:cNvSpPr>
          <p:nvPr/>
        </p:nvSpPr>
        <p:spPr>
          <a:xfrm>
            <a:off x="11144250" y="419100"/>
            <a:ext cx="419100" cy="323850"/>
          </a:xfrm>
          <a:prstGeom prst="rect">
            <a:avLst/>
          </a:prstGeom>
          <a:noFill/>
          <a:ln w="0">
            <a:noFill/>
          </a:ln>
        </p:spPr>
        <p:txBody>
          <a:bodyPr anchor="ctr">
            <a:noAutofit/>
          </a:bodyPr>
          <a:lstStyle/>
          <a:p>
            <a:pPr algn="r">
              <a:defRPr sz="1275" b="1">
                <a:solidFill>
                  <a:srgbClr val="D76F3E"/>
                </a:solidFill>
                <a:latin typeface="Arial"/>
                <a:ea typeface="Arial"/>
                <a:cs typeface="Arial"/>
              </a:defRPr>
            </a:pPr>
            <a:r>
              <a:rPr sz="1275" b="1">
                <a:solidFill>
                  <a:srgbClr val="D76F3E"/>
                </a:solidFill>
                <a:latin typeface="Arial"/>
                <a:ea typeface="Arial"/>
                <a:cs typeface="Arial"/>
              </a:rPr>
              <a:t>3</a:t>
            </a:r>
          </a:p>
        </p:txBody>
      </p:sp>
      <p:sp>
        <p:nvSpPr>
          <p:cNvPr id="3" name="Rechteck 2">
            <a:extLst>
              <a:ext uri="{FF2B5EF4-FFF2-40B4-BE49-F238E27FC236}">
                <a16:creationId xmlns:a16="http://schemas.microsoft.com/office/drawing/2014/main" id="{059C67C5-07EB-448A-9B2D-BF2F72C16691}"/>
              </a:ext>
            </a:extLst>
          </p:cNvPr>
          <p:cNvSpPr>
            <a:spLocks noGrp="1"/>
          </p:cNvSpPr>
          <p:nvPr/>
        </p:nvSpPr>
        <p:spPr>
          <a:xfrm>
            <a:off x="647700" y="6457950"/>
            <a:ext cx="5715000" cy="209550"/>
          </a:xfrm>
          <a:prstGeom prst="rect">
            <a:avLst/>
          </a:prstGeom>
          <a:noFill/>
          <a:ln w="0">
            <a:noFill/>
          </a:ln>
        </p:spPr>
        <p:txBody>
          <a:bodyPr anchor="ctr">
            <a:noAutofit/>
          </a:bodyPr>
          <a:lstStyle/>
          <a:p>
            <a:pPr algn="l">
              <a:defRPr sz="1050" b="0">
                <a:solidFill>
                  <a:srgbClr val="53616E"/>
                </a:solidFill>
                <a:latin typeface="Arial"/>
                <a:ea typeface="Arial"/>
                <a:cs typeface="Arial"/>
              </a:defRPr>
            </a:pPr>
            <a:r>
              <a:rPr sz="1050" b="0">
                <a:solidFill>
                  <a:srgbClr val="53616E"/>
                </a:solidFill>
                <a:latin typeface="Arial"/>
                <a:ea typeface="Arial"/>
                <a:cs typeface="Arial"/>
              </a:rPr>
              <a:t>Matemáticas Computacionales · K-SVD</a:t>
            </a:r>
          </a:p>
        </p:txBody>
      </p:sp>
      <p:sp>
        <p:nvSpPr>
          <p:cNvPr id="4" name="Rechteck 3">
            <a:extLst>
              <a:ext uri="{FF2B5EF4-FFF2-40B4-BE49-F238E27FC236}">
                <a16:creationId xmlns:a16="http://schemas.microsoft.com/office/drawing/2014/main" id="{217CFF03-05AF-48C2-9A11-BFF7136319A2}"/>
              </a:ext>
            </a:extLst>
          </p:cNvPr>
          <p:cNvSpPr>
            <a:spLocks noGrp="1"/>
          </p:cNvSpPr>
          <p:nvPr/>
        </p:nvSpPr>
        <p:spPr>
          <a:xfrm>
            <a:off x="800100" y="1181100"/>
            <a:ext cx="10572750" cy="609600"/>
          </a:xfrm>
          <a:prstGeom prst="rect">
            <a:avLst/>
          </a:prstGeom>
          <a:noFill/>
          <a:ln w="0">
            <a:noFill/>
          </a:ln>
        </p:spPr>
        <p:txBody>
          <a:bodyPr anchor="ctr">
            <a:noAutofit/>
          </a:bodyPr>
          <a:lstStyle/>
          <a:p>
            <a:pPr algn="ctr">
              <a:defRPr sz="1800" b="1">
                <a:solidFill>
                  <a:srgbClr val="1F5A8A"/>
                </a:solidFill>
                <a:latin typeface="Arial"/>
                <a:ea typeface="Arial"/>
                <a:cs typeface="Arial"/>
              </a:defRPr>
            </a:pPr>
            <a:r>
              <a:rPr sz="1800" b="1">
                <a:solidFill>
                  <a:srgbClr val="1F5A8A"/>
                </a:solidFill>
                <a:latin typeface="Arial"/>
                <a:ea typeface="Arial"/>
                <a:cs typeface="Arial"/>
              </a:rPr>
              <a:t>Imagen  →  parches centrados  →  OMP  →  actualización K-SVD  →  promedio de solapamientos</a:t>
            </a:r>
          </a:p>
        </p:txBody>
      </p:sp>
      <p:sp>
        <p:nvSpPr>
          <p:cNvPr id="5" name="Rechteck 4">
            <a:extLst>
              <a:ext uri="{FF2B5EF4-FFF2-40B4-BE49-F238E27FC236}">
                <a16:creationId xmlns:a16="http://schemas.microsoft.com/office/drawing/2014/main" id="{7F25F545-9062-4B6C-A189-8EDA7D966979}"/>
              </a:ext>
            </a:extLst>
          </p:cNvPr>
          <p:cNvSpPr>
            <a:spLocks noGrp="1"/>
          </p:cNvSpPr>
          <p:nvPr/>
        </p:nvSpPr>
        <p:spPr>
          <a:xfrm>
            <a:off x="838200" y="2152650"/>
            <a:ext cx="1809750" cy="438150"/>
          </a:xfrm>
          <a:prstGeom prst="rect">
            <a:avLst/>
          </a:prstGeom>
          <a:noFill/>
          <a:ln w="0">
            <a:noFill/>
          </a:ln>
        </p:spPr>
        <p:txBody>
          <a:bodyPr anchor="ctr">
            <a:noAutofit/>
          </a:bodyPr>
          <a:lstStyle/>
          <a:p>
            <a:pPr algn="l">
              <a:defRPr sz="2100" b="1">
                <a:solidFill>
                  <a:srgbClr val="17324D"/>
                </a:solidFill>
                <a:latin typeface="Arial"/>
                <a:ea typeface="Arial"/>
                <a:cs typeface="Arial"/>
              </a:defRPr>
            </a:pPr>
            <a:r>
              <a:rPr sz="2100" b="1">
                <a:solidFill>
                  <a:srgbClr val="17324D"/>
                </a:solidFill>
                <a:latin typeface="Arial"/>
                <a:ea typeface="Arial"/>
                <a:cs typeface="Arial"/>
              </a:rPr>
              <a:t>OMP</a:t>
            </a:r>
          </a:p>
        </p:txBody>
      </p:sp>
      <p:sp>
        <p:nvSpPr>
          <p:cNvPr id="6" name="Rechteck 5">
            <a:extLst>
              <a:ext uri="{FF2B5EF4-FFF2-40B4-BE49-F238E27FC236}">
                <a16:creationId xmlns:a16="http://schemas.microsoft.com/office/drawing/2014/main" id="{F37C2138-67B7-4746-A160-4ADCD813B428}"/>
              </a:ext>
            </a:extLst>
          </p:cNvPr>
          <p:cNvSpPr>
            <a:spLocks noGrp="1"/>
          </p:cNvSpPr>
          <p:nvPr/>
        </p:nvSpPr>
        <p:spPr>
          <a:xfrm>
            <a:off x="838200" y="2619375"/>
            <a:ext cx="3810000" cy="857250"/>
          </a:xfrm>
          <a:prstGeom prst="rect">
            <a:avLst/>
          </a:prstGeom>
          <a:noFill/>
          <a:ln w="0">
            <a:noFill/>
          </a:ln>
        </p:spPr>
        <p:txBody>
          <a:bodyPr anchor="ctr">
            <a:noAutofit/>
          </a:bodyPr>
          <a:lstStyle/>
          <a:p>
            <a:pPr algn="l">
              <a:defRPr sz="1500" b="0">
                <a:solidFill>
                  <a:srgbClr val="17212B"/>
                </a:solidFill>
                <a:latin typeface="Arial"/>
                <a:ea typeface="Arial"/>
                <a:cs typeface="Arial"/>
              </a:defRPr>
            </a:pPr>
            <a:r>
              <a:rPr sz="1500" b="0">
                <a:solidFill>
                  <a:srgbClr val="17212B"/>
                </a:solidFill>
                <a:latin typeface="Arial"/>
                <a:ea typeface="Arial"/>
                <a:cs typeface="Arial"/>
              </a:rPr>
              <a:t>a lo más T átomos</a:t>
            </a:r>
          </a:p>
          <a:p>
            <a:pPr algn="l">
              <a:defRPr sz="1500" b="0">
                <a:solidFill>
                  <a:srgbClr val="17212B"/>
                </a:solidFill>
                <a:latin typeface="Arial"/>
                <a:ea typeface="Arial"/>
                <a:cs typeface="Arial"/>
              </a:defRPr>
            </a:pPr>
            <a:r>
              <a:rPr sz="1500" b="0">
                <a:solidFill>
                  <a:srgbClr val="17212B"/>
                </a:solidFill>
                <a:latin typeface="Arial"/>
                <a:ea typeface="Arial"/>
                <a:cs typeface="Arial"/>
              </a:rPr>
              <a:t>sklearn.linear_model.orthogonal_mp</a:t>
            </a:r>
          </a:p>
        </p:txBody>
      </p:sp>
      <p:sp>
        <p:nvSpPr>
          <p:cNvPr id="7" name="Rechteck 6">
            <a:extLst>
              <a:ext uri="{FF2B5EF4-FFF2-40B4-BE49-F238E27FC236}">
                <a16:creationId xmlns:a16="http://schemas.microsoft.com/office/drawing/2014/main" id="{CA5F7906-3EAA-4DB5-9383-2F492299A51E}"/>
              </a:ext>
            </a:extLst>
          </p:cNvPr>
          <p:cNvSpPr>
            <a:spLocks noGrp="1"/>
          </p:cNvSpPr>
          <p:nvPr/>
        </p:nvSpPr>
        <p:spPr>
          <a:xfrm>
            <a:off x="838200" y="3667125"/>
            <a:ext cx="4000500" cy="647700"/>
          </a:xfrm>
          <a:prstGeom prst="rect">
            <a:avLst/>
          </a:prstGeom>
          <a:noFill/>
          <a:ln w="0">
            <a:noFill/>
          </a:ln>
        </p:spPr>
        <p:txBody>
          <a:bodyPr anchor="ctr">
            <a:noAutofit/>
          </a:bodyPr>
          <a:lstStyle/>
          <a:p>
            <a:pPr algn="l">
              <a:defRPr sz="2025" b="1">
                <a:solidFill>
                  <a:srgbClr val="17324D"/>
                </a:solidFill>
                <a:latin typeface="Arial"/>
                <a:ea typeface="Arial"/>
                <a:cs typeface="Arial"/>
              </a:defRPr>
            </a:pPr>
            <a:r>
              <a:rPr sz="2025" b="1">
                <a:solidFill>
                  <a:srgbClr val="17324D"/>
                </a:solidFill>
                <a:latin typeface="Arial"/>
                <a:ea typeface="Arial"/>
                <a:cs typeface="Arial"/>
              </a:rPr>
              <a:t>Actualización del átomo j</a:t>
            </a:r>
          </a:p>
        </p:txBody>
      </p:sp>
      <p:sp>
        <p:nvSpPr>
          <p:cNvPr id="8" name="Rechteck 7">
            <a:extLst>
              <a:ext uri="{FF2B5EF4-FFF2-40B4-BE49-F238E27FC236}">
                <a16:creationId xmlns:a16="http://schemas.microsoft.com/office/drawing/2014/main" id="{8212077D-A91D-47AD-8B7C-EA4C929A6593}"/>
              </a:ext>
            </a:extLst>
          </p:cNvPr>
          <p:cNvSpPr>
            <a:spLocks noGrp="1"/>
          </p:cNvSpPr>
          <p:nvPr/>
        </p:nvSpPr>
        <p:spPr>
          <a:xfrm>
            <a:off x="838200" y="4210050"/>
            <a:ext cx="4000500" cy="1257300"/>
          </a:xfrm>
          <a:prstGeom prst="rect">
            <a:avLst/>
          </a:prstGeom>
          <a:noFill/>
          <a:ln w="0">
            <a:noFill/>
          </a:ln>
        </p:spPr>
        <p:txBody>
          <a:bodyPr anchor="ctr">
            <a:noAutofit/>
          </a:bodyPr>
          <a:lstStyle/>
          <a:p>
            <a:pPr algn="l">
              <a:defRPr sz="1725" b="0">
                <a:solidFill>
                  <a:srgbClr val="17212B"/>
                </a:solidFill>
                <a:latin typeface="Arial"/>
                <a:ea typeface="Arial"/>
                <a:cs typeface="Arial"/>
              </a:defRPr>
            </a:pPr>
            <a:r>
              <a:rPr sz="1725" b="0">
                <a:solidFill>
                  <a:srgbClr val="17212B"/>
                </a:solidFill>
                <a:latin typeface="Arial"/>
                <a:ea typeface="Arial"/>
                <a:cs typeface="Arial"/>
              </a:rPr>
              <a:t>Eⱼ = Xω − DAω + dⱼaⱼ</a:t>
            </a:r>
          </a:p>
          <a:p>
            <a:pPr algn="l">
              <a:defRPr sz="1725" b="0">
                <a:solidFill>
                  <a:srgbClr val="17212B"/>
                </a:solidFill>
                <a:latin typeface="Arial"/>
                <a:ea typeface="Arial"/>
                <a:cs typeface="Arial"/>
              </a:defRPr>
            </a:pPr>
            <a:r>
              <a:rPr sz="1725" b="0">
                <a:solidFill>
                  <a:srgbClr val="17212B"/>
                </a:solidFill>
                <a:latin typeface="Arial"/>
                <a:ea typeface="Arial"/>
                <a:cs typeface="Arial"/>
              </a:rPr>
              <a:t>Eⱼ = UΣVᵀ</a:t>
            </a:r>
          </a:p>
          <a:p>
            <a:pPr algn="l">
              <a:defRPr sz="1725" b="0">
                <a:solidFill>
                  <a:srgbClr val="17212B"/>
                </a:solidFill>
                <a:latin typeface="Arial"/>
                <a:ea typeface="Arial"/>
                <a:cs typeface="Arial"/>
              </a:defRPr>
            </a:pPr>
            <a:r>
              <a:rPr sz="1725" b="0">
                <a:solidFill>
                  <a:srgbClr val="17212B"/>
                </a:solidFill>
                <a:latin typeface="Arial"/>
                <a:ea typeface="Arial"/>
                <a:cs typeface="Arial"/>
              </a:rPr>
              <a:t>dⱼ ← u₁   ·   aⱼ,ω ← σ₁v₁ᵀ</a:t>
            </a:r>
          </a:p>
        </p:txBody>
      </p:sp>
      <p:pic>
        <p:nvPicPr>
          <p:cNvPr id="21" name="Grafik 20"/>
          <p:cNvPicPr>
            <a:picLocks noChangeAspect="1"/>
          </p:cNvPicPr>
          <p:nvPr/>
        </p:nvPicPr>
        <p:blipFill>
          <a:blip r:embed="rId3"/>
          <a:stretch/>
        </p:blipFill>
        <p:spPr>
          <a:xfrm>
            <a:off x="5095875" y="2631440"/>
            <a:ext cx="6334125" cy="1671320"/>
          </a:xfrm>
          <a:prstGeom prst="rect">
            <a:avLst/>
          </a:prstGeom>
        </p:spPr>
      </p:pic>
      <p:sp>
        <p:nvSpPr>
          <p:cNvPr id="10" name="Rechteck 9">
            <a:extLst>
              <a:ext uri="{FF2B5EF4-FFF2-40B4-BE49-F238E27FC236}">
                <a16:creationId xmlns:a16="http://schemas.microsoft.com/office/drawing/2014/main" id="{E52CE9F0-9DBC-4AD0-977C-9D60B3C293EA}"/>
              </a:ext>
            </a:extLst>
          </p:cNvPr>
          <p:cNvSpPr>
            <a:spLocks noGrp="1"/>
          </p:cNvSpPr>
          <p:nvPr/>
        </p:nvSpPr>
        <p:spPr>
          <a:xfrm>
            <a:off x="5191125" y="5067300"/>
            <a:ext cx="6096000" cy="457200"/>
          </a:xfrm>
          <a:prstGeom prst="rect">
            <a:avLst/>
          </a:prstGeom>
          <a:noFill/>
          <a:ln w="0">
            <a:noFill/>
          </a:ln>
        </p:spPr>
        <p:txBody>
          <a:bodyPr anchor="ctr">
            <a:noAutofit/>
          </a:bodyPr>
          <a:lstStyle/>
          <a:p>
            <a:pPr algn="ctr">
              <a:defRPr sz="1725" b="1">
                <a:solidFill>
                  <a:srgbClr val="D76F3E"/>
                </a:solidFill>
                <a:latin typeface="Arial"/>
                <a:ea typeface="Arial"/>
                <a:cs typeface="Arial"/>
              </a:defRPr>
            </a:pPr>
            <a:r>
              <a:rPr sz="1725" b="1">
                <a:solidFill>
                  <a:srgbClr val="D76F3E"/>
                </a:solidFill>
                <a:latin typeface="Arial"/>
                <a:ea typeface="Arial"/>
                <a:cs typeface="Arial"/>
              </a:rPr>
              <a:t>K=128 átomos · dimensión 64 · 8 iteraciones · T=4 · CPU</a:t>
            </a:r>
          </a:p>
        </p:txBody>
      </p:sp>
      <p:sp>
        <p:nvSpPr>
          <p:cNvPr id="11" name="Rechteck 10">
            <a:extLst>
              <a:ext uri="{FF2B5EF4-FFF2-40B4-BE49-F238E27FC236}">
                <a16:creationId xmlns:a16="http://schemas.microsoft.com/office/drawing/2014/main" id="{A6BEABBD-D041-43CA-9819-D919141F8BF4}"/>
              </a:ext>
            </a:extLst>
          </p:cNvPr>
          <p:cNvSpPr>
            <a:spLocks noGrp="1"/>
          </p:cNvSpPr>
          <p:nvPr/>
        </p:nvSpPr>
        <p:spPr>
          <a:xfrm>
            <a:off x="5191125" y="5619750"/>
            <a:ext cx="6096000" cy="419100"/>
          </a:xfrm>
          <a:prstGeom prst="rect">
            <a:avLst/>
          </a:prstGeom>
          <a:noFill/>
          <a:ln w="0">
            <a:noFill/>
          </a:ln>
        </p:spPr>
        <p:txBody>
          <a:bodyPr anchor="ctr">
            <a:noAutofit/>
          </a:bodyPr>
          <a:lstStyle/>
          <a:p>
            <a:pPr algn="ctr">
              <a:defRPr sz="1425" b="0">
                <a:solidFill>
                  <a:srgbClr val="53616E"/>
                </a:solidFill>
                <a:latin typeface="Arial"/>
                <a:ea typeface="Arial"/>
                <a:cs typeface="Arial"/>
              </a:defRPr>
            </a:pPr>
            <a:r>
              <a:rPr sz="1425" b="0">
                <a:solidFill>
                  <a:srgbClr val="53616E"/>
                </a:solidFill>
                <a:latin typeface="Arial"/>
                <a:ea typeface="Arial"/>
                <a:cs typeface="Arial"/>
              </a:rPr>
              <a:t>La SVD se aplica al residual restringido de las señales que usan el átomo.</a:t>
            </a:r>
          </a:p>
        </p:txBody>
      </p:sp>
      <p:sp>
        <p:nvSpPr>
          <p:cNvPr id="12" name="Rechteck 11">
            <a:extLst>
              <a:ext uri="{FF2B5EF4-FFF2-40B4-BE49-F238E27FC236}">
                <a16:creationId xmlns:a16="http://schemas.microsoft.com/office/drawing/2014/main" id="{AC41295F-795B-43C5-9A52-53F4A54CA0F8}"/>
              </a:ext>
            </a:extLst>
          </p:cNvPr>
          <p:cNvSpPr>
            <a:spLocks noGrp="1"/>
          </p:cNvSpPr>
          <p:nvPr/>
        </p:nvSpPr>
        <p:spPr>
          <a:xfrm>
            <a:off x="7334250" y="6419850"/>
            <a:ext cx="4238625" cy="228600"/>
          </a:xfrm>
          <a:prstGeom prst="rect">
            <a:avLst/>
          </a:prstGeom>
          <a:noFill/>
          <a:ln w="0">
            <a:noFill/>
          </a:ln>
        </p:spPr>
        <p:txBody>
          <a:bodyPr anchor="ctr">
            <a:noAutofit/>
          </a:bodyPr>
          <a:lstStyle/>
          <a:p>
            <a:pPr algn="r">
              <a:defRPr sz="1050" b="1">
                <a:solidFill>
                  <a:srgbClr val="D76F3E"/>
                </a:solidFill>
                <a:latin typeface="Arial"/>
                <a:ea typeface="Arial"/>
                <a:cs typeface="Arial"/>
              </a:defRPr>
            </a:pPr>
            <a:r>
              <a:rPr sz="1050" b="1">
                <a:solidFill>
                  <a:srgbClr val="D76F3E"/>
                </a:solidFill>
                <a:latin typeface="Arial"/>
                <a:ea typeface="Arial"/>
                <a:cs typeface="Arial"/>
              </a:rPr>
              <a:t>Alan (Edgar) · Integrante 2</a:t>
            </a:r>
          </a:p>
        </p:txBody>
      </p:sp>
    </p:spTree>
    <p:extLst>
      <p:ext uri="{BB962C8B-B14F-4D97-AF65-F5344CB8AC3E}">
        <p14:creationId xmlns:p14="http://schemas.microsoft.com/office/powerpoint/2010/main" val="11786824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89BA15B4-4C30-4462-8E25-E3269172755B}"/>
              </a:ext>
            </a:extLst>
          </p:cNvPr>
          <p:cNvSpPr>
            <a:spLocks noGrp="1"/>
          </p:cNvSpPr>
          <p:nvPr/>
        </p:nvSpPr>
        <p:spPr>
          <a:xfrm>
            <a:off x="647700" y="381000"/>
            <a:ext cx="10096500" cy="628650"/>
          </a:xfrm>
          <a:prstGeom prst="rect">
            <a:avLst/>
          </a:prstGeom>
          <a:noFill/>
          <a:ln w="0">
            <a:noFill/>
          </a:ln>
        </p:spPr>
        <p:txBody>
          <a:bodyPr anchor="ctr">
            <a:noAutofit/>
          </a:bodyPr>
          <a:lstStyle/>
          <a:p>
            <a:pPr algn="l">
              <a:defRPr sz="2700" b="1">
                <a:solidFill>
                  <a:srgbClr val="17324D"/>
                </a:solidFill>
                <a:latin typeface="Arial"/>
                <a:ea typeface="Arial"/>
                <a:cs typeface="Arial"/>
              </a:defRPr>
            </a:pPr>
            <a:r>
              <a:rPr sz="2700" b="1">
                <a:solidFill>
                  <a:srgbClr val="17324D"/>
                </a:solidFill>
                <a:latin typeface="Arial"/>
                <a:ea typeface="Arial"/>
                <a:cs typeface="Arial"/>
              </a:rPr>
              <a:t>El entrenamiento redujo el error de representación</a:t>
            </a:r>
          </a:p>
        </p:txBody>
      </p:sp>
      <p:sp>
        <p:nvSpPr>
          <p:cNvPr id="2" name="Rechteck 1">
            <a:extLst>
              <a:ext uri="{FF2B5EF4-FFF2-40B4-BE49-F238E27FC236}">
                <a16:creationId xmlns:a16="http://schemas.microsoft.com/office/drawing/2014/main" id="{A51F72F4-121A-4B0F-8928-483452F213D1}"/>
              </a:ext>
            </a:extLst>
          </p:cNvPr>
          <p:cNvSpPr>
            <a:spLocks noGrp="1"/>
          </p:cNvSpPr>
          <p:nvPr/>
        </p:nvSpPr>
        <p:spPr>
          <a:xfrm>
            <a:off x="11144250" y="419100"/>
            <a:ext cx="419100" cy="323850"/>
          </a:xfrm>
          <a:prstGeom prst="rect">
            <a:avLst/>
          </a:prstGeom>
          <a:noFill/>
          <a:ln w="0">
            <a:noFill/>
          </a:ln>
        </p:spPr>
        <p:txBody>
          <a:bodyPr anchor="ctr">
            <a:noAutofit/>
          </a:bodyPr>
          <a:lstStyle/>
          <a:p>
            <a:pPr algn="r">
              <a:defRPr sz="1275" b="1">
                <a:solidFill>
                  <a:srgbClr val="D76F3E"/>
                </a:solidFill>
                <a:latin typeface="Arial"/>
                <a:ea typeface="Arial"/>
                <a:cs typeface="Arial"/>
              </a:defRPr>
            </a:pPr>
            <a:r>
              <a:rPr sz="1275" b="1">
                <a:solidFill>
                  <a:srgbClr val="D76F3E"/>
                </a:solidFill>
                <a:latin typeface="Arial"/>
                <a:ea typeface="Arial"/>
                <a:cs typeface="Arial"/>
              </a:rPr>
              <a:t>4</a:t>
            </a:r>
          </a:p>
        </p:txBody>
      </p:sp>
      <p:sp>
        <p:nvSpPr>
          <p:cNvPr id="3" name="Rechteck 2">
            <a:extLst>
              <a:ext uri="{FF2B5EF4-FFF2-40B4-BE49-F238E27FC236}">
                <a16:creationId xmlns:a16="http://schemas.microsoft.com/office/drawing/2014/main" id="{325D63BF-043E-4065-9BD1-75070F10B13D}"/>
              </a:ext>
            </a:extLst>
          </p:cNvPr>
          <p:cNvSpPr>
            <a:spLocks noGrp="1"/>
          </p:cNvSpPr>
          <p:nvPr/>
        </p:nvSpPr>
        <p:spPr>
          <a:xfrm>
            <a:off x="647700" y="6457950"/>
            <a:ext cx="5715000" cy="209550"/>
          </a:xfrm>
          <a:prstGeom prst="rect">
            <a:avLst/>
          </a:prstGeom>
          <a:noFill/>
          <a:ln w="0">
            <a:noFill/>
          </a:ln>
        </p:spPr>
        <p:txBody>
          <a:bodyPr anchor="ctr">
            <a:noAutofit/>
          </a:bodyPr>
          <a:lstStyle/>
          <a:p>
            <a:pPr algn="l">
              <a:defRPr sz="1050" b="0">
                <a:solidFill>
                  <a:srgbClr val="53616E"/>
                </a:solidFill>
                <a:latin typeface="Arial"/>
                <a:ea typeface="Arial"/>
                <a:cs typeface="Arial"/>
              </a:defRPr>
            </a:pPr>
            <a:r>
              <a:rPr sz="1050" b="0">
                <a:solidFill>
                  <a:srgbClr val="53616E"/>
                </a:solidFill>
                <a:latin typeface="Arial"/>
                <a:ea typeface="Arial"/>
                <a:cs typeface="Arial"/>
              </a:rPr>
              <a:t>Matemáticas Computacionales · K-SVD</a:t>
            </a:r>
          </a:p>
        </p:txBody>
      </p:sp>
      <p:sp>
        <p:nvSpPr>
          <p:cNvPr id="4" name="Rechteck 3">
            <a:extLst>
              <a:ext uri="{FF2B5EF4-FFF2-40B4-BE49-F238E27FC236}">
                <a16:creationId xmlns:a16="http://schemas.microsoft.com/office/drawing/2014/main" id="{9235ABA3-F9C8-4346-A37B-0CD4554FB7EC}"/>
              </a:ext>
            </a:extLst>
          </p:cNvPr>
          <p:cNvSpPr>
            <a:spLocks noGrp="1"/>
          </p:cNvSpPr>
          <p:nvPr/>
        </p:nvSpPr>
        <p:spPr>
          <a:xfrm>
            <a:off x="781050" y="1562100"/>
            <a:ext cx="2857500" cy="552450"/>
          </a:xfrm>
          <a:prstGeom prst="rect">
            <a:avLst/>
          </a:prstGeom>
          <a:noFill/>
          <a:ln w="0">
            <a:noFill/>
          </a:ln>
        </p:spPr>
        <p:txBody>
          <a:bodyPr anchor="ctr">
            <a:noAutofit/>
          </a:bodyPr>
          <a:lstStyle/>
          <a:p>
            <a:pPr algn="l">
              <a:defRPr sz="2850" b="1">
                <a:solidFill>
                  <a:srgbClr val="17324D"/>
                </a:solidFill>
                <a:latin typeface="Arial"/>
                <a:ea typeface="Arial"/>
                <a:cs typeface="Arial"/>
              </a:defRPr>
            </a:pPr>
            <a:r>
              <a:rPr sz="2850" b="1">
                <a:solidFill>
                  <a:srgbClr val="17324D"/>
                </a:solidFill>
                <a:latin typeface="Arial"/>
                <a:ea typeface="Arial"/>
                <a:cs typeface="Arial"/>
              </a:rPr>
              <a:t>9.55×10⁻⁴</a:t>
            </a:r>
          </a:p>
        </p:txBody>
      </p:sp>
      <p:sp>
        <p:nvSpPr>
          <p:cNvPr id="5" name="Rechteck 4">
            <a:extLst>
              <a:ext uri="{FF2B5EF4-FFF2-40B4-BE49-F238E27FC236}">
                <a16:creationId xmlns:a16="http://schemas.microsoft.com/office/drawing/2014/main" id="{C86BD089-AE0F-4A35-9F63-1ABEC79A79F4}"/>
              </a:ext>
            </a:extLst>
          </p:cNvPr>
          <p:cNvSpPr>
            <a:spLocks noGrp="1"/>
          </p:cNvSpPr>
          <p:nvPr/>
        </p:nvSpPr>
        <p:spPr>
          <a:xfrm>
            <a:off x="819150" y="2114550"/>
            <a:ext cx="2667000" cy="304800"/>
          </a:xfrm>
          <a:prstGeom prst="rect">
            <a:avLst/>
          </a:prstGeom>
          <a:noFill/>
          <a:ln w="0">
            <a:noFill/>
          </a:ln>
        </p:spPr>
        <p:txBody>
          <a:bodyPr anchor="ctr">
            <a:noAutofit/>
          </a:bodyPr>
          <a:lstStyle/>
          <a:p>
            <a:pPr algn="l">
              <a:defRPr sz="1425" b="0">
                <a:solidFill>
                  <a:srgbClr val="53616E"/>
                </a:solidFill>
                <a:latin typeface="Arial"/>
                <a:ea typeface="Arial"/>
                <a:cs typeface="Arial"/>
              </a:defRPr>
            </a:pPr>
            <a:r>
              <a:rPr sz="1425" b="0">
                <a:solidFill>
                  <a:srgbClr val="53616E"/>
                </a:solidFill>
                <a:latin typeface="Arial"/>
                <a:ea typeface="Arial"/>
                <a:cs typeface="Arial"/>
              </a:rPr>
              <a:t>diccionario inicial</a:t>
            </a:r>
          </a:p>
        </p:txBody>
      </p:sp>
      <p:sp>
        <p:nvSpPr>
          <p:cNvPr id="6" name="Rechteck 5">
            <a:extLst>
              <a:ext uri="{FF2B5EF4-FFF2-40B4-BE49-F238E27FC236}">
                <a16:creationId xmlns:a16="http://schemas.microsoft.com/office/drawing/2014/main" id="{B8E9C3BF-73AA-4CDD-89C3-9E8882F13D7A}"/>
              </a:ext>
            </a:extLst>
          </p:cNvPr>
          <p:cNvSpPr>
            <a:spLocks noGrp="1"/>
          </p:cNvSpPr>
          <p:nvPr/>
        </p:nvSpPr>
        <p:spPr>
          <a:xfrm>
            <a:off x="781050" y="2971800"/>
            <a:ext cx="2857500" cy="552450"/>
          </a:xfrm>
          <a:prstGeom prst="rect">
            <a:avLst/>
          </a:prstGeom>
          <a:noFill/>
          <a:ln w="0">
            <a:noFill/>
          </a:ln>
        </p:spPr>
        <p:txBody>
          <a:bodyPr anchor="ctr">
            <a:noAutofit/>
          </a:bodyPr>
          <a:lstStyle/>
          <a:p>
            <a:pPr algn="l">
              <a:defRPr sz="2850" b="1">
                <a:solidFill>
                  <a:srgbClr val="D76F3E"/>
                </a:solidFill>
                <a:latin typeface="Arial"/>
                <a:ea typeface="Arial"/>
                <a:cs typeface="Arial"/>
              </a:defRPr>
            </a:pPr>
            <a:r>
              <a:rPr sz="2850" b="1">
                <a:solidFill>
                  <a:srgbClr val="D76F3E"/>
                </a:solidFill>
                <a:latin typeface="Arial"/>
                <a:ea typeface="Arial"/>
                <a:cs typeface="Arial"/>
              </a:rPr>
              <a:t>3.41×10⁻⁴</a:t>
            </a:r>
          </a:p>
        </p:txBody>
      </p:sp>
      <p:sp>
        <p:nvSpPr>
          <p:cNvPr id="7" name="Rechteck 6">
            <a:extLst>
              <a:ext uri="{FF2B5EF4-FFF2-40B4-BE49-F238E27FC236}">
                <a16:creationId xmlns:a16="http://schemas.microsoft.com/office/drawing/2014/main" id="{C26C19B9-AE2D-4A51-A6B8-3288D2D665A1}"/>
              </a:ext>
            </a:extLst>
          </p:cNvPr>
          <p:cNvSpPr>
            <a:spLocks noGrp="1"/>
          </p:cNvSpPr>
          <p:nvPr/>
        </p:nvSpPr>
        <p:spPr>
          <a:xfrm>
            <a:off x="819150" y="3524250"/>
            <a:ext cx="3143250" cy="533400"/>
          </a:xfrm>
          <a:prstGeom prst="rect">
            <a:avLst/>
          </a:prstGeom>
          <a:noFill/>
          <a:ln w="0">
            <a:noFill/>
          </a:ln>
        </p:spPr>
        <p:txBody>
          <a:bodyPr anchor="ctr">
            <a:noAutofit/>
          </a:bodyPr>
          <a:lstStyle/>
          <a:p>
            <a:pPr algn="l">
              <a:defRPr sz="1425" b="0">
                <a:solidFill>
                  <a:srgbClr val="53616E"/>
                </a:solidFill>
                <a:latin typeface="Arial"/>
                <a:ea typeface="Arial"/>
                <a:cs typeface="Arial"/>
              </a:defRPr>
            </a:pPr>
            <a:r>
              <a:rPr sz="1425" b="0">
                <a:solidFill>
                  <a:srgbClr val="53616E"/>
                </a:solidFill>
                <a:latin typeface="Arial"/>
                <a:ea typeface="Arial"/>
                <a:cs typeface="Arial"/>
              </a:rPr>
              <a:t>diccionario final recodificado</a:t>
            </a:r>
          </a:p>
        </p:txBody>
      </p:sp>
      <p:sp>
        <p:nvSpPr>
          <p:cNvPr id="8" name="Rechteck 7">
            <a:extLst>
              <a:ext uri="{FF2B5EF4-FFF2-40B4-BE49-F238E27FC236}">
                <a16:creationId xmlns:a16="http://schemas.microsoft.com/office/drawing/2014/main" id="{89CD4FFE-59E1-4668-99DF-C42FF48E23FE}"/>
              </a:ext>
            </a:extLst>
          </p:cNvPr>
          <p:cNvSpPr>
            <a:spLocks noGrp="1"/>
          </p:cNvSpPr>
          <p:nvPr/>
        </p:nvSpPr>
        <p:spPr>
          <a:xfrm>
            <a:off x="781050" y="4552950"/>
            <a:ext cx="3143250" cy="495300"/>
          </a:xfrm>
          <a:prstGeom prst="rect">
            <a:avLst/>
          </a:prstGeom>
          <a:noFill/>
          <a:ln w="0">
            <a:noFill/>
          </a:ln>
        </p:spPr>
        <p:txBody>
          <a:bodyPr anchor="ctr">
            <a:noAutofit/>
          </a:bodyPr>
          <a:lstStyle/>
          <a:p>
            <a:pPr algn="l">
              <a:defRPr sz="2100" b="1">
                <a:solidFill>
                  <a:srgbClr val="1F5A8A"/>
                </a:solidFill>
                <a:latin typeface="Arial"/>
                <a:ea typeface="Arial"/>
                <a:cs typeface="Arial"/>
              </a:defRPr>
            </a:pPr>
            <a:r>
              <a:rPr sz="2100" b="1">
                <a:solidFill>
                  <a:srgbClr val="1F5A8A"/>
                </a:solidFill>
                <a:latin typeface="Arial"/>
                <a:ea typeface="Arial"/>
                <a:cs typeface="Arial"/>
              </a:rPr>
              <a:t>64% menos MSE</a:t>
            </a:r>
          </a:p>
        </p:txBody>
      </p:sp>
      <p:sp>
        <p:nvSpPr>
          <p:cNvPr id="9" name="Rechteck 8">
            <a:extLst>
              <a:ext uri="{FF2B5EF4-FFF2-40B4-BE49-F238E27FC236}">
                <a16:creationId xmlns:a16="http://schemas.microsoft.com/office/drawing/2014/main" id="{07EFE484-35D9-4CB1-8973-D7F5BAD9B896}"/>
              </a:ext>
            </a:extLst>
          </p:cNvPr>
          <p:cNvSpPr>
            <a:spLocks noGrp="1"/>
          </p:cNvSpPr>
          <p:nvPr/>
        </p:nvSpPr>
        <p:spPr>
          <a:xfrm>
            <a:off x="819150" y="5219700"/>
            <a:ext cx="2952750" cy="685800"/>
          </a:xfrm>
          <a:prstGeom prst="rect">
            <a:avLst/>
          </a:prstGeom>
          <a:noFill/>
          <a:ln w="0">
            <a:noFill/>
          </a:ln>
        </p:spPr>
        <p:txBody>
          <a:bodyPr anchor="ctr">
            <a:noAutofit/>
          </a:bodyPr>
          <a:lstStyle/>
          <a:p>
            <a:pPr algn="l">
              <a:defRPr sz="1500" b="0">
                <a:solidFill>
                  <a:srgbClr val="17212B"/>
                </a:solidFill>
                <a:latin typeface="Arial"/>
                <a:ea typeface="Arial"/>
                <a:cs typeface="Arial"/>
              </a:defRPr>
            </a:pPr>
            <a:r>
              <a:rPr sz="1500" b="0">
                <a:solidFill>
                  <a:srgbClr val="17212B"/>
                </a:solidFill>
                <a:latin typeface="Arial"/>
                <a:ea typeface="Arial"/>
                <a:cs typeface="Arial"/>
              </a:rPr>
              <a:t>K=128 · 1500 parches</a:t>
            </a:r>
          </a:p>
          <a:p>
            <a:pPr algn="l">
              <a:defRPr sz="1500" b="0">
                <a:solidFill>
                  <a:srgbClr val="17212B"/>
                </a:solidFill>
                <a:latin typeface="Arial"/>
                <a:ea typeface="Arial"/>
                <a:cs typeface="Arial"/>
              </a:defRPr>
            </a:pPr>
            <a:r>
              <a:rPr sz="1500" b="0">
                <a:solidFill>
                  <a:srgbClr val="17212B"/>
                </a:solidFill>
                <a:latin typeface="Arial"/>
                <a:ea typeface="Arial"/>
                <a:cs typeface="Arial"/>
              </a:rPr>
              <a:t>8 iteraciones · CPU</a:t>
            </a:r>
          </a:p>
        </p:txBody>
      </p:sp>
      <p:graphicFrame>
        <p:nvGraphicFramePr>
          <p:cNvPr id="21" name="Chart"/>
          <p:cNvGraphicFramePr/>
          <p:nvPr/>
        </p:nvGraphicFramePr>
        <p:xfrm>
          <a:off x="4095750" y="1352550"/>
          <a:ext cx="7191375" cy="4476750"/>
        </p:xfrm>
        <a:graphic>
          <a:graphicData uri="http://schemas.openxmlformats.org/drawingml/2006/chart">
            <c:chart xmlns:c="http://schemas.openxmlformats.org/drawingml/2006/chart" xmlns:r="http://schemas.openxmlformats.org/officeDocument/2006/relationships" r:id="rId3"/>
          </a:graphicData>
        </a:graphic>
      </p:graphicFrame>
      <p:sp>
        <p:nvSpPr>
          <p:cNvPr id="11" name="Rechteck 10">
            <a:extLst>
              <a:ext uri="{FF2B5EF4-FFF2-40B4-BE49-F238E27FC236}">
                <a16:creationId xmlns:a16="http://schemas.microsoft.com/office/drawing/2014/main" id="{D321A43A-19A7-4BB5-B206-58F7D52A63B1}"/>
              </a:ext>
            </a:extLst>
          </p:cNvPr>
          <p:cNvSpPr>
            <a:spLocks noGrp="1"/>
          </p:cNvSpPr>
          <p:nvPr/>
        </p:nvSpPr>
        <p:spPr>
          <a:xfrm>
            <a:off x="7334250" y="6419850"/>
            <a:ext cx="4238625" cy="228600"/>
          </a:xfrm>
          <a:prstGeom prst="rect">
            <a:avLst/>
          </a:prstGeom>
          <a:noFill/>
          <a:ln w="0">
            <a:noFill/>
          </a:ln>
        </p:spPr>
        <p:txBody>
          <a:bodyPr anchor="ctr">
            <a:noAutofit/>
          </a:bodyPr>
          <a:lstStyle/>
          <a:p>
            <a:pPr algn="r">
              <a:defRPr sz="1050" b="1">
                <a:solidFill>
                  <a:srgbClr val="D76F3E"/>
                </a:solidFill>
                <a:latin typeface="Arial"/>
                <a:ea typeface="Arial"/>
                <a:cs typeface="Arial"/>
              </a:defRPr>
            </a:pPr>
            <a:r>
              <a:rPr sz="1050" b="1">
                <a:solidFill>
                  <a:srgbClr val="D76F3E"/>
                </a:solidFill>
                <a:latin typeface="Arial"/>
                <a:ea typeface="Arial"/>
                <a:cs typeface="Arial"/>
              </a:rPr>
              <a:t>Alan (Edgar) · Integrante 2</a:t>
            </a:r>
          </a:p>
        </p:txBody>
      </p:sp>
    </p:spTree>
    <p:extLst>
      <p:ext uri="{BB962C8B-B14F-4D97-AF65-F5344CB8AC3E}">
        <p14:creationId xmlns:p14="http://schemas.microsoft.com/office/powerpoint/2010/main" val="21147579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D93AB76-B2EC-4EE3-8A3D-0CBA68BA0AEB}"/>
              </a:ext>
            </a:extLst>
          </p:cNvPr>
          <p:cNvSpPr>
            <a:spLocks noGrp="1"/>
          </p:cNvSpPr>
          <p:nvPr/>
        </p:nvSpPr>
        <p:spPr>
          <a:xfrm>
            <a:off x="647700" y="381000"/>
            <a:ext cx="10096500" cy="628650"/>
          </a:xfrm>
          <a:prstGeom prst="rect">
            <a:avLst/>
          </a:prstGeom>
          <a:noFill/>
          <a:ln w="0">
            <a:noFill/>
          </a:ln>
        </p:spPr>
        <p:txBody>
          <a:bodyPr anchor="ctr">
            <a:noAutofit/>
          </a:bodyPr>
          <a:lstStyle/>
          <a:p>
            <a:pPr algn="l">
              <a:defRPr sz="2700" b="1">
                <a:solidFill>
                  <a:srgbClr val="17324D"/>
                </a:solidFill>
                <a:latin typeface="Arial"/>
                <a:ea typeface="Arial"/>
                <a:cs typeface="Arial"/>
              </a:defRPr>
            </a:pPr>
            <a:r>
              <a:rPr sz="2700" b="1">
                <a:solidFill>
                  <a:srgbClr val="17324D"/>
                </a:solidFill>
                <a:latin typeface="Arial"/>
                <a:ea typeface="Arial"/>
                <a:cs typeface="Arial"/>
              </a:rPr>
              <a:t>Protocolo de evaluación</a:t>
            </a:r>
          </a:p>
        </p:txBody>
      </p:sp>
      <p:sp>
        <p:nvSpPr>
          <p:cNvPr id="2" name="Rechteck 1">
            <a:extLst>
              <a:ext uri="{FF2B5EF4-FFF2-40B4-BE49-F238E27FC236}">
                <a16:creationId xmlns:a16="http://schemas.microsoft.com/office/drawing/2014/main" id="{85040374-5456-4D91-ABF1-3D09E6FE10CC}"/>
              </a:ext>
            </a:extLst>
          </p:cNvPr>
          <p:cNvSpPr>
            <a:spLocks noGrp="1"/>
          </p:cNvSpPr>
          <p:nvPr/>
        </p:nvSpPr>
        <p:spPr>
          <a:xfrm>
            <a:off x="11144250" y="419100"/>
            <a:ext cx="419100" cy="323850"/>
          </a:xfrm>
          <a:prstGeom prst="rect">
            <a:avLst/>
          </a:prstGeom>
          <a:noFill/>
          <a:ln w="0">
            <a:noFill/>
          </a:ln>
        </p:spPr>
        <p:txBody>
          <a:bodyPr anchor="ctr">
            <a:noAutofit/>
          </a:bodyPr>
          <a:lstStyle/>
          <a:p>
            <a:pPr algn="r">
              <a:defRPr sz="1275" b="1">
                <a:solidFill>
                  <a:srgbClr val="D76F3E"/>
                </a:solidFill>
                <a:latin typeface="Arial"/>
                <a:ea typeface="Arial"/>
                <a:cs typeface="Arial"/>
              </a:defRPr>
            </a:pPr>
            <a:r>
              <a:rPr sz="1275" b="1">
                <a:solidFill>
                  <a:srgbClr val="D76F3E"/>
                </a:solidFill>
                <a:latin typeface="Arial"/>
                <a:ea typeface="Arial"/>
                <a:cs typeface="Arial"/>
              </a:rPr>
              <a:t>5</a:t>
            </a:r>
          </a:p>
        </p:txBody>
      </p:sp>
      <p:sp>
        <p:nvSpPr>
          <p:cNvPr id="3" name="Rechteck 2">
            <a:extLst>
              <a:ext uri="{FF2B5EF4-FFF2-40B4-BE49-F238E27FC236}">
                <a16:creationId xmlns:a16="http://schemas.microsoft.com/office/drawing/2014/main" id="{6A89CDEC-1686-48A6-9C9E-A96B79511CBA}"/>
              </a:ext>
            </a:extLst>
          </p:cNvPr>
          <p:cNvSpPr>
            <a:spLocks noGrp="1"/>
          </p:cNvSpPr>
          <p:nvPr/>
        </p:nvSpPr>
        <p:spPr>
          <a:xfrm>
            <a:off x="647700" y="6457950"/>
            <a:ext cx="5715000" cy="209550"/>
          </a:xfrm>
          <a:prstGeom prst="rect">
            <a:avLst/>
          </a:prstGeom>
          <a:noFill/>
          <a:ln w="0">
            <a:noFill/>
          </a:ln>
        </p:spPr>
        <p:txBody>
          <a:bodyPr anchor="ctr">
            <a:noAutofit/>
          </a:bodyPr>
          <a:lstStyle/>
          <a:p>
            <a:pPr algn="l">
              <a:defRPr sz="1050" b="0">
                <a:solidFill>
                  <a:srgbClr val="53616E"/>
                </a:solidFill>
                <a:latin typeface="Arial"/>
                <a:ea typeface="Arial"/>
                <a:cs typeface="Arial"/>
              </a:defRPr>
            </a:pPr>
            <a:r>
              <a:rPr sz="1050" b="0">
                <a:solidFill>
                  <a:srgbClr val="53616E"/>
                </a:solidFill>
                <a:latin typeface="Arial"/>
                <a:ea typeface="Arial"/>
                <a:cs typeface="Arial"/>
              </a:rPr>
              <a:t>Matemáticas Computacionales · K-SVD</a:t>
            </a:r>
          </a:p>
        </p:txBody>
      </p:sp>
      <p:sp>
        <p:nvSpPr>
          <p:cNvPr id="4" name="Rechteck 3">
            <a:extLst>
              <a:ext uri="{FF2B5EF4-FFF2-40B4-BE49-F238E27FC236}">
                <a16:creationId xmlns:a16="http://schemas.microsoft.com/office/drawing/2014/main" id="{8D7FEF70-C254-4B35-B0FD-5545E63B79AC}"/>
              </a:ext>
            </a:extLst>
          </p:cNvPr>
          <p:cNvSpPr>
            <a:spLocks noGrp="1"/>
          </p:cNvSpPr>
          <p:nvPr/>
        </p:nvSpPr>
        <p:spPr>
          <a:xfrm>
            <a:off x="857250" y="1123950"/>
            <a:ext cx="10429875" cy="457200"/>
          </a:xfrm>
          <a:prstGeom prst="rect">
            <a:avLst/>
          </a:prstGeom>
          <a:noFill/>
          <a:ln w="0">
            <a:noFill/>
          </a:ln>
        </p:spPr>
        <p:txBody>
          <a:bodyPr anchor="ctr">
            <a:noAutofit/>
          </a:bodyPr>
          <a:lstStyle/>
          <a:p>
            <a:pPr algn="ctr">
              <a:defRPr sz="1800" b="1">
                <a:solidFill>
                  <a:srgbClr val="1F5A8A"/>
                </a:solidFill>
                <a:latin typeface="Arial"/>
                <a:ea typeface="Arial"/>
                <a:cs typeface="Arial"/>
              </a:defRPr>
            </a:pPr>
            <a:r>
              <a:rPr sz="1800" b="1">
                <a:solidFill>
                  <a:srgbClr val="1F5A8A"/>
                </a:solidFill>
                <a:latin typeface="Arial"/>
                <a:ea typeface="Arial"/>
                <a:cs typeface="Arial"/>
              </a:rPr>
              <a:t>Una sola imagen de prueba · una sola realización de ruido · misma referencia limpia</a:t>
            </a:r>
          </a:p>
        </p:txBody>
      </p:sp>
      <p:pic>
        <p:nvPicPr>
          <p:cNvPr id="14" name="Grafik 13"/>
          <p:cNvPicPr>
            <a:picLocks noChangeAspect="1"/>
          </p:cNvPicPr>
          <p:nvPr/>
        </p:nvPicPr>
        <p:blipFill>
          <a:blip r:embed="rId3"/>
          <a:stretch/>
        </p:blipFill>
        <p:spPr>
          <a:xfrm>
            <a:off x="2850178" y="1695450"/>
            <a:ext cx="6491644" cy="3714750"/>
          </a:xfrm>
          <a:prstGeom prst="rect">
            <a:avLst/>
          </a:prstGeom>
        </p:spPr>
      </p:pic>
      <p:sp>
        <p:nvSpPr>
          <p:cNvPr id="6" name="Rechteck 5">
            <a:extLst>
              <a:ext uri="{FF2B5EF4-FFF2-40B4-BE49-F238E27FC236}">
                <a16:creationId xmlns:a16="http://schemas.microsoft.com/office/drawing/2014/main" id="{1722ADE1-5E59-452E-89FE-F47EBB42B385}"/>
              </a:ext>
            </a:extLst>
          </p:cNvPr>
          <p:cNvSpPr>
            <a:spLocks noGrp="1"/>
          </p:cNvSpPr>
          <p:nvPr/>
        </p:nvSpPr>
        <p:spPr>
          <a:xfrm>
            <a:off x="990600" y="5600700"/>
            <a:ext cx="4095750" cy="361950"/>
          </a:xfrm>
          <a:prstGeom prst="rect">
            <a:avLst/>
          </a:prstGeom>
          <a:noFill/>
          <a:ln w="0">
            <a:noFill/>
          </a:ln>
        </p:spPr>
        <p:txBody>
          <a:bodyPr anchor="ctr">
            <a:noAutofit/>
          </a:bodyPr>
          <a:lstStyle/>
          <a:p>
            <a:pPr algn="l">
              <a:defRPr sz="1575" b="1">
                <a:solidFill>
                  <a:srgbClr val="17324D"/>
                </a:solidFill>
                <a:latin typeface="Arial"/>
                <a:ea typeface="Arial"/>
                <a:cs typeface="Arial"/>
              </a:defRPr>
            </a:pPr>
            <a:r>
              <a:rPr sz="1575" b="1">
                <a:solidFill>
                  <a:srgbClr val="17324D"/>
                </a:solidFill>
                <a:latin typeface="Arial"/>
                <a:ea typeface="Arial"/>
                <a:cs typeface="Arial"/>
              </a:rPr>
              <a:t>σ=20/255 · RNG 44 · sin clipping</a:t>
            </a:r>
          </a:p>
        </p:txBody>
      </p:sp>
      <p:sp>
        <p:nvSpPr>
          <p:cNvPr id="7" name="Rechteck 6">
            <a:extLst>
              <a:ext uri="{FF2B5EF4-FFF2-40B4-BE49-F238E27FC236}">
                <a16:creationId xmlns:a16="http://schemas.microsoft.com/office/drawing/2014/main" id="{57F4D479-4CA8-471D-9365-B67C0F184706}"/>
              </a:ext>
            </a:extLst>
          </p:cNvPr>
          <p:cNvSpPr>
            <a:spLocks noGrp="1"/>
          </p:cNvSpPr>
          <p:nvPr/>
        </p:nvSpPr>
        <p:spPr>
          <a:xfrm>
            <a:off x="5219700" y="5600700"/>
            <a:ext cx="2190750" cy="361950"/>
          </a:xfrm>
          <a:prstGeom prst="rect">
            <a:avLst/>
          </a:prstGeom>
          <a:noFill/>
          <a:ln w="0">
            <a:noFill/>
          </a:ln>
        </p:spPr>
        <p:txBody>
          <a:bodyPr anchor="ctr">
            <a:noAutofit/>
          </a:bodyPr>
          <a:lstStyle/>
          <a:p>
            <a:pPr algn="ctr">
              <a:defRPr sz="1575" b="1">
                <a:solidFill>
                  <a:srgbClr val="17324D"/>
                </a:solidFill>
                <a:latin typeface="Arial"/>
                <a:ea typeface="Arial"/>
                <a:cs typeface="Arial"/>
              </a:defRPr>
            </a:pPr>
            <a:r>
              <a:rPr sz="1575" b="1">
                <a:solidFill>
                  <a:srgbClr val="17324D"/>
                </a:solidFill>
                <a:latin typeface="Arial"/>
                <a:ea typeface="Arial"/>
                <a:cs typeface="Arial"/>
              </a:rPr>
              <a:t>T0 ∈ {2, 4, 8}</a:t>
            </a:r>
          </a:p>
        </p:txBody>
      </p:sp>
      <p:sp>
        <p:nvSpPr>
          <p:cNvPr id="8" name="Rechteck 7">
            <a:extLst>
              <a:ext uri="{FF2B5EF4-FFF2-40B4-BE49-F238E27FC236}">
                <a16:creationId xmlns:a16="http://schemas.microsoft.com/office/drawing/2014/main" id="{20BF6B72-6C7E-4A78-B1B7-7705186B3507}"/>
              </a:ext>
            </a:extLst>
          </p:cNvPr>
          <p:cNvSpPr>
            <a:spLocks noGrp="1"/>
          </p:cNvSpPr>
          <p:nvPr/>
        </p:nvSpPr>
        <p:spPr>
          <a:xfrm>
            <a:off x="7667625" y="5600700"/>
            <a:ext cx="3619500" cy="361950"/>
          </a:xfrm>
          <a:prstGeom prst="rect">
            <a:avLst/>
          </a:prstGeom>
          <a:noFill/>
          <a:ln w="0">
            <a:noFill/>
          </a:ln>
        </p:spPr>
        <p:txBody>
          <a:bodyPr anchor="ctr">
            <a:noAutofit/>
          </a:bodyPr>
          <a:lstStyle/>
          <a:p>
            <a:pPr algn="r">
              <a:defRPr sz="1575" b="1">
                <a:solidFill>
                  <a:srgbClr val="17324D"/>
                </a:solidFill>
                <a:latin typeface="Arial"/>
                <a:ea typeface="Arial"/>
                <a:cs typeface="Arial"/>
              </a:defRPr>
            </a:pPr>
            <a:r>
              <a:rPr sz="1575" b="1">
                <a:solidFill>
                  <a:srgbClr val="17324D"/>
                </a:solidFill>
                <a:latin typeface="Arial"/>
                <a:ea typeface="Arial"/>
                <a:cs typeface="Arial"/>
              </a:rPr>
              <a:t>MSE · PSNR · actividad · tiempo</a:t>
            </a:r>
          </a:p>
        </p:txBody>
      </p:sp>
      <p:sp>
        <p:nvSpPr>
          <p:cNvPr id="9" name="Rechteck 8">
            <a:extLst>
              <a:ext uri="{FF2B5EF4-FFF2-40B4-BE49-F238E27FC236}">
                <a16:creationId xmlns:a16="http://schemas.microsoft.com/office/drawing/2014/main" id="{D41AA3FC-C365-47BD-B60D-8FC012C58484}"/>
              </a:ext>
            </a:extLst>
          </p:cNvPr>
          <p:cNvSpPr>
            <a:spLocks noGrp="1"/>
          </p:cNvSpPr>
          <p:nvPr/>
        </p:nvSpPr>
        <p:spPr>
          <a:xfrm>
            <a:off x="7334250" y="6419850"/>
            <a:ext cx="4238625" cy="228600"/>
          </a:xfrm>
          <a:prstGeom prst="rect">
            <a:avLst/>
          </a:prstGeom>
          <a:noFill/>
          <a:ln w="0">
            <a:noFill/>
          </a:ln>
        </p:spPr>
        <p:txBody>
          <a:bodyPr anchor="ctr">
            <a:noAutofit/>
          </a:bodyPr>
          <a:lstStyle/>
          <a:p>
            <a:pPr algn="r">
              <a:defRPr sz="1050" b="1">
                <a:solidFill>
                  <a:srgbClr val="1F5A8A"/>
                </a:solidFill>
                <a:latin typeface="Arial"/>
                <a:ea typeface="Arial"/>
                <a:cs typeface="Arial"/>
              </a:defRPr>
            </a:pPr>
            <a:r>
              <a:rPr sz="1050" b="1">
                <a:solidFill>
                  <a:srgbClr val="1F5A8A"/>
                </a:solidFill>
                <a:latin typeface="Arial"/>
                <a:ea typeface="Arial"/>
                <a:cs typeface="Arial"/>
              </a:rPr>
              <a:t>Sergio · Integrante 3</a:t>
            </a:r>
          </a:p>
        </p:txBody>
      </p:sp>
    </p:spTree>
    <p:extLst>
      <p:ext uri="{BB962C8B-B14F-4D97-AF65-F5344CB8AC3E}">
        <p14:creationId xmlns:p14="http://schemas.microsoft.com/office/powerpoint/2010/main" val="9484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52A6AC25-608A-4FA1-A50C-3A3B634C6DA2}"/>
              </a:ext>
            </a:extLst>
          </p:cNvPr>
          <p:cNvSpPr>
            <a:spLocks noGrp="1"/>
          </p:cNvSpPr>
          <p:nvPr/>
        </p:nvSpPr>
        <p:spPr>
          <a:xfrm>
            <a:off x="647700" y="381000"/>
            <a:ext cx="10096500" cy="628650"/>
          </a:xfrm>
          <a:prstGeom prst="rect">
            <a:avLst/>
          </a:prstGeom>
          <a:noFill/>
          <a:ln w="0">
            <a:noFill/>
          </a:ln>
        </p:spPr>
        <p:txBody>
          <a:bodyPr anchor="ctr">
            <a:noAutofit/>
          </a:bodyPr>
          <a:lstStyle/>
          <a:p>
            <a:pPr algn="l">
              <a:defRPr sz="2700" b="1">
                <a:solidFill>
                  <a:srgbClr val="17324D"/>
                </a:solidFill>
                <a:latin typeface="Arial"/>
                <a:ea typeface="Arial"/>
                <a:cs typeface="Arial"/>
              </a:defRPr>
            </a:pPr>
            <a:r>
              <a:rPr sz="2700" b="1">
                <a:solidFill>
                  <a:srgbClr val="17324D"/>
                </a:solidFill>
                <a:latin typeface="Arial"/>
                <a:ea typeface="Arial"/>
                <a:cs typeface="Arial"/>
              </a:rPr>
              <a:t>Resultados medidos</a:t>
            </a:r>
          </a:p>
        </p:txBody>
      </p:sp>
      <p:sp>
        <p:nvSpPr>
          <p:cNvPr id="2" name="Rechteck 1">
            <a:extLst>
              <a:ext uri="{FF2B5EF4-FFF2-40B4-BE49-F238E27FC236}">
                <a16:creationId xmlns:a16="http://schemas.microsoft.com/office/drawing/2014/main" id="{C2B5D964-CC2C-4E97-B013-D7D07F22DAC9}"/>
              </a:ext>
            </a:extLst>
          </p:cNvPr>
          <p:cNvSpPr>
            <a:spLocks noGrp="1"/>
          </p:cNvSpPr>
          <p:nvPr/>
        </p:nvSpPr>
        <p:spPr>
          <a:xfrm>
            <a:off x="11144250" y="419100"/>
            <a:ext cx="419100" cy="323850"/>
          </a:xfrm>
          <a:prstGeom prst="rect">
            <a:avLst/>
          </a:prstGeom>
          <a:noFill/>
          <a:ln w="0">
            <a:noFill/>
          </a:ln>
        </p:spPr>
        <p:txBody>
          <a:bodyPr anchor="ctr">
            <a:noAutofit/>
          </a:bodyPr>
          <a:lstStyle/>
          <a:p>
            <a:pPr algn="r">
              <a:defRPr sz="1275" b="1">
                <a:solidFill>
                  <a:srgbClr val="D76F3E"/>
                </a:solidFill>
                <a:latin typeface="Arial"/>
                <a:ea typeface="Arial"/>
                <a:cs typeface="Arial"/>
              </a:defRPr>
            </a:pPr>
            <a:r>
              <a:rPr sz="1275" b="1">
                <a:solidFill>
                  <a:srgbClr val="D76F3E"/>
                </a:solidFill>
                <a:latin typeface="Arial"/>
                <a:ea typeface="Arial"/>
                <a:cs typeface="Arial"/>
              </a:rPr>
              <a:t>6</a:t>
            </a:r>
          </a:p>
        </p:txBody>
      </p:sp>
      <p:sp>
        <p:nvSpPr>
          <p:cNvPr id="3" name="Rechteck 2">
            <a:extLst>
              <a:ext uri="{FF2B5EF4-FFF2-40B4-BE49-F238E27FC236}">
                <a16:creationId xmlns:a16="http://schemas.microsoft.com/office/drawing/2014/main" id="{B9D34BE3-81C2-438D-B3EE-9E297A277A81}"/>
              </a:ext>
            </a:extLst>
          </p:cNvPr>
          <p:cNvSpPr>
            <a:spLocks noGrp="1"/>
          </p:cNvSpPr>
          <p:nvPr/>
        </p:nvSpPr>
        <p:spPr>
          <a:xfrm>
            <a:off x="647700" y="6457950"/>
            <a:ext cx="5715000" cy="209550"/>
          </a:xfrm>
          <a:prstGeom prst="rect">
            <a:avLst/>
          </a:prstGeom>
          <a:noFill/>
          <a:ln w="0">
            <a:noFill/>
          </a:ln>
        </p:spPr>
        <p:txBody>
          <a:bodyPr anchor="ctr">
            <a:noAutofit/>
          </a:bodyPr>
          <a:lstStyle/>
          <a:p>
            <a:pPr algn="l">
              <a:defRPr sz="1050" b="0">
                <a:solidFill>
                  <a:srgbClr val="53616E"/>
                </a:solidFill>
                <a:latin typeface="Arial"/>
                <a:ea typeface="Arial"/>
                <a:cs typeface="Arial"/>
              </a:defRPr>
            </a:pPr>
            <a:r>
              <a:rPr sz="1050" b="0">
                <a:solidFill>
                  <a:srgbClr val="53616E"/>
                </a:solidFill>
                <a:latin typeface="Arial"/>
                <a:ea typeface="Arial"/>
                <a:cs typeface="Arial"/>
              </a:rPr>
              <a:t>Matemáticas Computacionales · K-SVD</a:t>
            </a:r>
          </a:p>
        </p:txBody>
      </p:sp>
      <p:graphicFrame>
        <p:nvGraphicFramePr>
          <p:cNvPr id="14" name="Tabelle 13"/>
          <p:cNvGraphicFramePr/>
          <p:nvPr/>
        </p:nvGraphicFramePr>
        <p:xfrm>
          <a:off x="666750" y="1381125"/>
          <a:ext cx="7905750" cy="4095752"/>
        </p:xfrm>
        <a:graphic>
          <a:graphicData uri="http://schemas.openxmlformats.org/drawingml/2006/table">
            <a:tbl>
              <a:tblPr firstRow="1" bandRow="1"/>
              <a:tblGrid>
                <a:gridCol w="314325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gridCol w="1809750">
                  <a:extLst>
                    <a:ext uri="{9D8B030D-6E8A-4147-A177-3AD203B41FA5}">
                      <a16:colId xmlns:a16="http://schemas.microsoft.com/office/drawing/2014/main" val="20003"/>
                    </a:ext>
                  </a:extLst>
                </a:gridCol>
              </a:tblGrid>
              <a:tr h="511969">
                <a:tc>
                  <a:txBody>
                    <a:bodyPr/>
                    <a:lstStyle/>
                    <a:p>
                      <a:pPr algn="l"/>
                      <a:r>
                        <a:rPr sz="1425" b="1">
                          <a:solidFill>
                            <a:srgbClr val="FFFFFF"/>
                          </a:solidFill>
                          <a:latin typeface="Arial"/>
                          <a:ea typeface="Arial"/>
                          <a:cs typeface="Arial"/>
                        </a:rPr>
                        <a:t>Entrada</a:t>
                      </a:r>
                    </a:p>
                  </a:txBody>
                  <a:tcPr>
                    <a:solidFill>
                      <a:srgbClr val="17324D"/>
                    </a:solidFill>
                  </a:tcPr>
                </a:tc>
                <a:tc>
                  <a:txBody>
                    <a:bodyPr/>
                    <a:lstStyle/>
                    <a:p>
                      <a:pPr algn="ctr"/>
                      <a:r>
                        <a:rPr sz="1425" b="1">
                          <a:solidFill>
                            <a:srgbClr val="FFFFFF"/>
                          </a:solidFill>
                          <a:latin typeface="Arial"/>
                          <a:ea typeface="Arial"/>
                          <a:cs typeface="Arial"/>
                        </a:rPr>
                        <a:t>T0</a:t>
                      </a:r>
                    </a:p>
                  </a:txBody>
                  <a:tcPr>
                    <a:solidFill>
                      <a:srgbClr val="17324D"/>
                    </a:solidFill>
                  </a:tcPr>
                </a:tc>
                <a:tc>
                  <a:txBody>
                    <a:bodyPr/>
                    <a:lstStyle/>
                    <a:p>
                      <a:pPr algn="ctr"/>
                      <a:r>
                        <a:rPr sz="1425" b="1">
                          <a:solidFill>
                            <a:srgbClr val="FFFFFF"/>
                          </a:solidFill>
                          <a:latin typeface="Arial"/>
                          <a:ea typeface="Arial"/>
                          <a:cs typeface="Arial"/>
                        </a:rPr>
                        <a:t>MSE</a:t>
                      </a:r>
                    </a:p>
                  </a:txBody>
                  <a:tcPr>
                    <a:solidFill>
                      <a:srgbClr val="17324D"/>
                    </a:solidFill>
                  </a:tcPr>
                </a:tc>
                <a:tc>
                  <a:txBody>
                    <a:bodyPr/>
                    <a:lstStyle/>
                    <a:p>
                      <a:pPr algn="ctr"/>
                      <a:r>
                        <a:rPr sz="1425" b="1">
                          <a:solidFill>
                            <a:srgbClr val="FFFFFF"/>
                          </a:solidFill>
                          <a:latin typeface="Arial"/>
                          <a:ea typeface="Arial"/>
                          <a:cs typeface="Arial"/>
                        </a:rPr>
                        <a:t>PSNR dB</a:t>
                      </a:r>
                    </a:p>
                  </a:txBody>
                  <a:tcPr>
                    <a:solidFill>
                      <a:srgbClr val="17324D"/>
                    </a:solidFill>
                  </a:tcPr>
                </a:tc>
                <a:extLst>
                  <a:ext uri="{0D108BD9-81ED-4DB2-BD59-A6C34878D82A}">
                    <a16:rowId xmlns:a16="http://schemas.microsoft.com/office/drawing/2014/main" val="10000"/>
                  </a:ext>
                </a:extLst>
              </a:tr>
              <a:tr h="511969">
                <a:tc>
                  <a:txBody>
                    <a:bodyPr/>
                    <a:lstStyle/>
                    <a:p>
                      <a:pPr algn="l"/>
                      <a:r>
                        <a:rPr sz="1350" b="0">
                          <a:solidFill>
                            <a:srgbClr val="17212B"/>
                          </a:solidFill>
                          <a:latin typeface="Arial"/>
                          <a:ea typeface="Arial"/>
                          <a:cs typeface="Arial"/>
                        </a:rPr>
                        <a:t>ruidosa sin procesar</a:t>
                      </a:r>
                    </a:p>
                  </a:txBody>
                  <a:tcPr>
                    <a:solidFill>
                      <a:srgbClr val="FFFFFF"/>
                    </a:solidFill>
                  </a:tcPr>
                </a:tc>
                <a:tc>
                  <a:txBody>
                    <a:bodyPr/>
                    <a:lstStyle/>
                    <a:p>
                      <a:pPr algn="ctr"/>
                      <a:r>
                        <a:rPr sz="1350" b="0">
                          <a:solidFill>
                            <a:srgbClr val="17212B"/>
                          </a:solidFill>
                          <a:latin typeface="Arial"/>
                          <a:ea typeface="Arial"/>
                          <a:cs typeface="Arial"/>
                        </a:rPr>
                        <a:t>—</a:t>
                      </a:r>
                    </a:p>
                  </a:txBody>
                  <a:tcPr>
                    <a:solidFill>
                      <a:srgbClr val="FFFFFF"/>
                    </a:solidFill>
                  </a:tcPr>
                </a:tc>
                <a:tc>
                  <a:txBody>
                    <a:bodyPr/>
                    <a:lstStyle/>
                    <a:p>
                      <a:pPr algn="ctr"/>
                      <a:r>
                        <a:rPr sz="1350" b="0">
                          <a:solidFill>
                            <a:srgbClr val="17212B"/>
                          </a:solidFill>
                          <a:latin typeface="Arial"/>
                          <a:ea typeface="Arial"/>
                          <a:cs typeface="Arial"/>
                        </a:rPr>
                        <a:t>0.006179</a:t>
                      </a:r>
                    </a:p>
                  </a:txBody>
                  <a:tcPr>
                    <a:solidFill>
                      <a:srgbClr val="FFFFFF"/>
                    </a:solidFill>
                  </a:tcPr>
                </a:tc>
                <a:tc>
                  <a:txBody>
                    <a:bodyPr/>
                    <a:lstStyle/>
                    <a:p>
                      <a:pPr algn="ctr"/>
                      <a:r>
                        <a:rPr sz="1350" b="0">
                          <a:solidFill>
                            <a:srgbClr val="17212B"/>
                          </a:solidFill>
                          <a:latin typeface="Arial"/>
                          <a:ea typeface="Arial"/>
                          <a:cs typeface="Arial"/>
                        </a:rPr>
                        <a:t>22.09</a:t>
                      </a:r>
                    </a:p>
                  </a:txBody>
                  <a:tcPr>
                    <a:solidFill>
                      <a:srgbClr val="FFFFFF"/>
                    </a:solidFill>
                  </a:tcPr>
                </a:tc>
                <a:extLst>
                  <a:ext uri="{0D108BD9-81ED-4DB2-BD59-A6C34878D82A}">
                    <a16:rowId xmlns:a16="http://schemas.microsoft.com/office/drawing/2014/main" val="10001"/>
                  </a:ext>
                </a:extLst>
              </a:tr>
              <a:tr h="511969">
                <a:tc>
                  <a:txBody>
                    <a:bodyPr/>
                    <a:lstStyle/>
                    <a:p>
                      <a:pPr algn="l"/>
                      <a:r>
                        <a:rPr sz="1350" b="0">
                          <a:solidFill>
                            <a:srgbClr val="17212B"/>
                          </a:solidFill>
                          <a:latin typeface="Arial"/>
                          <a:ea typeface="Arial"/>
                          <a:cs typeface="Arial"/>
                        </a:rPr>
                        <a:t>limpia</a:t>
                      </a:r>
                    </a:p>
                  </a:txBody>
                  <a:tcPr>
                    <a:solidFill>
                      <a:srgbClr val="E7F0F6"/>
                    </a:solidFill>
                  </a:tcPr>
                </a:tc>
                <a:tc>
                  <a:txBody>
                    <a:bodyPr/>
                    <a:lstStyle/>
                    <a:p>
                      <a:pPr algn="ctr"/>
                      <a:r>
                        <a:rPr sz="1350" b="0">
                          <a:solidFill>
                            <a:srgbClr val="17212B"/>
                          </a:solidFill>
                          <a:latin typeface="Arial"/>
                          <a:ea typeface="Arial"/>
                          <a:cs typeface="Arial"/>
                        </a:rPr>
                        <a:t>2</a:t>
                      </a:r>
                    </a:p>
                  </a:txBody>
                  <a:tcPr>
                    <a:solidFill>
                      <a:srgbClr val="E7F0F6"/>
                    </a:solidFill>
                  </a:tcPr>
                </a:tc>
                <a:tc>
                  <a:txBody>
                    <a:bodyPr/>
                    <a:lstStyle/>
                    <a:p>
                      <a:pPr algn="ctr"/>
                      <a:r>
                        <a:rPr sz="1350" b="0">
                          <a:solidFill>
                            <a:srgbClr val="17212B"/>
                          </a:solidFill>
                          <a:latin typeface="Arial"/>
                          <a:ea typeface="Arial"/>
                          <a:cs typeface="Arial"/>
                        </a:rPr>
                        <a:t>0.002132</a:t>
                      </a:r>
                    </a:p>
                  </a:txBody>
                  <a:tcPr>
                    <a:solidFill>
                      <a:srgbClr val="E7F0F6"/>
                    </a:solidFill>
                  </a:tcPr>
                </a:tc>
                <a:tc>
                  <a:txBody>
                    <a:bodyPr/>
                    <a:lstStyle/>
                    <a:p>
                      <a:pPr algn="ctr"/>
                      <a:r>
                        <a:rPr sz="1350" b="0">
                          <a:solidFill>
                            <a:srgbClr val="17212B"/>
                          </a:solidFill>
                          <a:latin typeface="Arial"/>
                          <a:ea typeface="Arial"/>
                          <a:cs typeface="Arial"/>
                        </a:rPr>
                        <a:t>26.71</a:t>
                      </a:r>
                    </a:p>
                  </a:txBody>
                  <a:tcPr>
                    <a:solidFill>
                      <a:srgbClr val="E7F0F6"/>
                    </a:solidFill>
                  </a:tcPr>
                </a:tc>
                <a:extLst>
                  <a:ext uri="{0D108BD9-81ED-4DB2-BD59-A6C34878D82A}">
                    <a16:rowId xmlns:a16="http://schemas.microsoft.com/office/drawing/2014/main" val="10002"/>
                  </a:ext>
                </a:extLst>
              </a:tr>
              <a:tr h="511969">
                <a:tc>
                  <a:txBody>
                    <a:bodyPr/>
                    <a:lstStyle/>
                    <a:p>
                      <a:pPr algn="l"/>
                      <a:r>
                        <a:rPr sz="1350" b="0">
                          <a:solidFill>
                            <a:srgbClr val="17212B"/>
                          </a:solidFill>
                          <a:latin typeface="Arial"/>
                          <a:ea typeface="Arial"/>
                          <a:cs typeface="Arial"/>
                        </a:rPr>
                        <a:t>limpia</a:t>
                      </a:r>
                    </a:p>
                  </a:txBody>
                  <a:tcPr>
                    <a:solidFill>
                      <a:srgbClr val="FFFFFF"/>
                    </a:solidFill>
                  </a:tcPr>
                </a:tc>
                <a:tc>
                  <a:txBody>
                    <a:bodyPr/>
                    <a:lstStyle/>
                    <a:p>
                      <a:pPr algn="ctr"/>
                      <a:r>
                        <a:rPr sz="1350" b="0">
                          <a:solidFill>
                            <a:srgbClr val="17212B"/>
                          </a:solidFill>
                          <a:latin typeface="Arial"/>
                          <a:ea typeface="Arial"/>
                          <a:cs typeface="Arial"/>
                        </a:rPr>
                        <a:t>4</a:t>
                      </a:r>
                    </a:p>
                  </a:txBody>
                  <a:tcPr>
                    <a:solidFill>
                      <a:srgbClr val="FFFFFF"/>
                    </a:solidFill>
                  </a:tcPr>
                </a:tc>
                <a:tc>
                  <a:txBody>
                    <a:bodyPr/>
                    <a:lstStyle/>
                    <a:p>
                      <a:pPr algn="ctr"/>
                      <a:r>
                        <a:rPr sz="1350" b="0">
                          <a:solidFill>
                            <a:srgbClr val="17212B"/>
                          </a:solidFill>
                          <a:latin typeface="Arial"/>
                          <a:ea typeface="Arial"/>
                          <a:cs typeface="Arial"/>
                        </a:rPr>
                        <a:t>0.001264</a:t>
                      </a:r>
                    </a:p>
                  </a:txBody>
                  <a:tcPr>
                    <a:solidFill>
                      <a:srgbClr val="FFFFFF"/>
                    </a:solidFill>
                  </a:tcPr>
                </a:tc>
                <a:tc>
                  <a:txBody>
                    <a:bodyPr/>
                    <a:lstStyle/>
                    <a:p>
                      <a:pPr algn="ctr"/>
                      <a:r>
                        <a:rPr sz="1350" b="0">
                          <a:solidFill>
                            <a:srgbClr val="17212B"/>
                          </a:solidFill>
                          <a:latin typeface="Arial"/>
                          <a:ea typeface="Arial"/>
                          <a:cs typeface="Arial"/>
                        </a:rPr>
                        <a:t>28.98</a:t>
                      </a:r>
                    </a:p>
                  </a:txBody>
                  <a:tcPr>
                    <a:solidFill>
                      <a:srgbClr val="FFFFFF"/>
                    </a:solidFill>
                  </a:tcPr>
                </a:tc>
                <a:extLst>
                  <a:ext uri="{0D108BD9-81ED-4DB2-BD59-A6C34878D82A}">
                    <a16:rowId xmlns:a16="http://schemas.microsoft.com/office/drawing/2014/main" val="10003"/>
                  </a:ext>
                </a:extLst>
              </a:tr>
              <a:tr h="511969">
                <a:tc>
                  <a:txBody>
                    <a:bodyPr/>
                    <a:lstStyle/>
                    <a:p>
                      <a:pPr algn="l"/>
                      <a:r>
                        <a:rPr sz="1350" b="0">
                          <a:solidFill>
                            <a:srgbClr val="17212B"/>
                          </a:solidFill>
                          <a:latin typeface="Arial"/>
                          <a:ea typeface="Arial"/>
                          <a:cs typeface="Arial"/>
                        </a:rPr>
                        <a:t>limpia</a:t>
                      </a:r>
                    </a:p>
                  </a:txBody>
                  <a:tcPr>
                    <a:solidFill>
                      <a:srgbClr val="E7F0F6"/>
                    </a:solidFill>
                  </a:tcPr>
                </a:tc>
                <a:tc>
                  <a:txBody>
                    <a:bodyPr/>
                    <a:lstStyle/>
                    <a:p>
                      <a:pPr algn="ctr"/>
                      <a:r>
                        <a:rPr sz="1350" b="0">
                          <a:solidFill>
                            <a:srgbClr val="17212B"/>
                          </a:solidFill>
                          <a:latin typeface="Arial"/>
                          <a:ea typeface="Arial"/>
                          <a:cs typeface="Arial"/>
                        </a:rPr>
                        <a:t>8</a:t>
                      </a:r>
                    </a:p>
                  </a:txBody>
                  <a:tcPr>
                    <a:solidFill>
                      <a:srgbClr val="E7F0F6"/>
                    </a:solidFill>
                  </a:tcPr>
                </a:tc>
                <a:tc>
                  <a:txBody>
                    <a:bodyPr/>
                    <a:lstStyle/>
                    <a:p>
                      <a:pPr algn="ctr"/>
                      <a:r>
                        <a:rPr sz="1350" b="0">
                          <a:solidFill>
                            <a:srgbClr val="17212B"/>
                          </a:solidFill>
                          <a:latin typeface="Arial"/>
                          <a:ea typeface="Arial"/>
                          <a:cs typeface="Arial"/>
                        </a:rPr>
                        <a:t>0.000719</a:t>
                      </a:r>
                    </a:p>
                  </a:txBody>
                  <a:tcPr>
                    <a:solidFill>
                      <a:srgbClr val="E7F0F6"/>
                    </a:solidFill>
                  </a:tcPr>
                </a:tc>
                <a:tc>
                  <a:txBody>
                    <a:bodyPr/>
                    <a:lstStyle/>
                    <a:p>
                      <a:pPr algn="ctr"/>
                      <a:r>
                        <a:rPr sz="1350" b="0">
                          <a:solidFill>
                            <a:srgbClr val="17212B"/>
                          </a:solidFill>
                          <a:latin typeface="Arial"/>
                          <a:ea typeface="Arial"/>
                          <a:cs typeface="Arial"/>
                        </a:rPr>
                        <a:t>31.43</a:t>
                      </a:r>
                    </a:p>
                  </a:txBody>
                  <a:tcPr>
                    <a:solidFill>
                      <a:srgbClr val="E7F0F6"/>
                    </a:solidFill>
                  </a:tcPr>
                </a:tc>
                <a:extLst>
                  <a:ext uri="{0D108BD9-81ED-4DB2-BD59-A6C34878D82A}">
                    <a16:rowId xmlns:a16="http://schemas.microsoft.com/office/drawing/2014/main" val="10004"/>
                  </a:ext>
                </a:extLst>
              </a:tr>
              <a:tr h="511969">
                <a:tc>
                  <a:txBody>
                    <a:bodyPr/>
                    <a:lstStyle/>
                    <a:p>
                      <a:pPr algn="l"/>
                      <a:r>
                        <a:rPr sz="1350" b="0">
                          <a:solidFill>
                            <a:srgbClr val="17212B"/>
                          </a:solidFill>
                          <a:latin typeface="Arial"/>
                          <a:ea typeface="Arial"/>
                          <a:cs typeface="Arial"/>
                        </a:rPr>
                        <a:t>ruidosa</a:t>
                      </a:r>
                    </a:p>
                  </a:txBody>
                  <a:tcPr>
                    <a:solidFill>
                      <a:srgbClr val="FFFFFF"/>
                    </a:solidFill>
                  </a:tcPr>
                </a:tc>
                <a:tc>
                  <a:txBody>
                    <a:bodyPr/>
                    <a:lstStyle/>
                    <a:p>
                      <a:pPr algn="ctr"/>
                      <a:r>
                        <a:rPr sz="1350" b="0">
                          <a:solidFill>
                            <a:srgbClr val="17212B"/>
                          </a:solidFill>
                          <a:latin typeface="Arial"/>
                          <a:ea typeface="Arial"/>
                          <a:cs typeface="Arial"/>
                        </a:rPr>
                        <a:t>2</a:t>
                      </a:r>
                    </a:p>
                  </a:txBody>
                  <a:tcPr>
                    <a:solidFill>
                      <a:srgbClr val="FFFFFF"/>
                    </a:solidFill>
                  </a:tcPr>
                </a:tc>
                <a:tc>
                  <a:txBody>
                    <a:bodyPr/>
                    <a:lstStyle/>
                    <a:p>
                      <a:pPr algn="ctr"/>
                      <a:r>
                        <a:rPr sz="1350" b="0">
                          <a:solidFill>
                            <a:srgbClr val="17212B"/>
                          </a:solidFill>
                          <a:latin typeface="Arial"/>
                          <a:ea typeface="Arial"/>
                          <a:cs typeface="Arial"/>
                        </a:rPr>
                        <a:t>0.002784</a:t>
                      </a:r>
                    </a:p>
                  </a:txBody>
                  <a:tcPr>
                    <a:solidFill>
                      <a:srgbClr val="FFFFFF"/>
                    </a:solidFill>
                  </a:tcPr>
                </a:tc>
                <a:tc>
                  <a:txBody>
                    <a:bodyPr/>
                    <a:lstStyle/>
                    <a:p>
                      <a:pPr algn="ctr"/>
                      <a:r>
                        <a:rPr sz="1350" b="0">
                          <a:solidFill>
                            <a:srgbClr val="17212B"/>
                          </a:solidFill>
                          <a:latin typeface="Arial"/>
                          <a:ea typeface="Arial"/>
                          <a:cs typeface="Arial"/>
                        </a:rPr>
                        <a:t>25.55</a:t>
                      </a:r>
                    </a:p>
                  </a:txBody>
                  <a:tcPr>
                    <a:solidFill>
                      <a:srgbClr val="FFFFFF"/>
                    </a:solidFill>
                  </a:tcPr>
                </a:tc>
                <a:extLst>
                  <a:ext uri="{0D108BD9-81ED-4DB2-BD59-A6C34878D82A}">
                    <a16:rowId xmlns:a16="http://schemas.microsoft.com/office/drawing/2014/main" val="10005"/>
                  </a:ext>
                </a:extLst>
              </a:tr>
              <a:tr h="511969">
                <a:tc>
                  <a:txBody>
                    <a:bodyPr/>
                    <a:lstStyle/>
                    <a:p>
                      <a:pPr algn="l"/>
                      <a:r>
                        <a:rPr sz="1350" b="1">
                          <a:solidFill>
                            <a:srgbClr val="17212B"/>
                          </a:solidFill>
                          <a:latin typeface="Arial"/>
                          <a:ea typeface="Arial"/>
                          <a:cs typeface="Arial"/>
                        </a:rPr>
                        <a:t>ruidosa</a:t>
                      </a:r>
                    </a:p>
                  </a:txBody>
                  <a:tcPr>
                    <a:solidFill>
                      <a:srgbClr val="F7E5DC"/>
                    </a:solidFill>
                  </a:tcPr>
                </a:tc>
                <a:tc>
                  <a:txBody>
                    <a:bodyPr/>
                    <a:lstStyle/>
                    <a:p>
                      <a:pPr algn="ctr"/>
                      <a:r>
                        <a:rPr sz="1350" b="1">
                          <a:solidFill>
                            <a:srgbClr val="17212B"/>
                          </a:solidFill>
                          <a:latin typeface="Arial"/>
                          <a:ea typeface="Arial"/>
                          <a:cs typeface="Arial"/>
                        </a:rPr>
                        <a:t>4</a:t>
                      </a:r>
                    </a:p>
                  </a:txBody>
                  <a:tcPr>
                    <a:solidFill>
                      <a:srgbClr val="F7E5DC"/>
                    </a:solidFill>
                  </a:tcPr>
                </a:tc>
                <a:tc>
                  <a:txBody>
                    <a:bodyPr/>
                    <a:lstStyle/>
                    <a:p>
                      <a:pPr algn="ctr"/>
                      <a:r>
                        <a:rPr sz="1350" b="1">
                          <a:solidFill>
                            <a:srgbClr val="17212B"/>
                          </a:solidFill>
                          <a:latin typeface="Arial"/>
                          <a:ea typeface="Arial"/>
                          <a:cs typeface="Arial"/>
                        </a:rPr>
                        <a:t>0.002442</a:t>
                      </a:r>
                    </a:p>
                  </a:txBody>
                  <a:tcPr>
                    <a:solidFill>
                      <a:srgbClr val="F7E5DC"/>
                    </a:solidFill>
                  </a:tcPr>
                </a:tc>
                <a:tc>
                  <a:txBody>
                    <a:bodyPr/>
                    <a:lstStyle/>
                    <a:p>
                      <a:pPr algn="ctr"/>
                      <a:r>
                        <a:rPr sz="1350" b="1">
                          <a:solidFill>
                            <a:srgbClr val="17212B"/>
                          </a:solidFill>
                          <a:latin typeface="Arial"/>
                          <a:ea typeface="Arial"/>
                          <a:cs typeface="Arial"/>
                        </a:rPr>
                        <a:t>26.12</a:t>
                      </a:r>
                    </a:p>
                  </a:txBody>
                  <a:tcPr>
                    <a:solidFill>
                      <a:srgbClr val="F7E5DC"/>
                    </a:solidFill>
                  </a:tcPr>
                </a:tc>
                <a:extLst>
                  <a:ext uri="{0D108BD9-81ED-4DB2-BD59-A6C34878D82A}">
                    <a16:rowId xmlns:a16="http://schemas.microsoft.com/office/drawing/2014/main" val="10006"/>
                  </a:ext>
                </a:extLst>
              </a:tr>
              <a:tr h="511969">
                <a:tc>
                  <a:txBody>
                    <a:bodyPr/>
                    <a:lstStyle/>
                    <a:p>
                      <a:pPr algn="l"/>
                      <a:r>
                        <a:rPr sz="1350" b="0">
                          <a:solidFill>
                            <a:srgbClr val="17212B"/>
                          </a:solidFill>
                          <a:latin typeface="Arial"/>
                          <a:ea typeface="Arial"/>
                          <a:cs typeface="Arial"/>
                        </a:rPr>
                        <a:t>ruidosa</a:t>
                      </a:r>
                    </a:p>
                  </a:txBody>
                  <a:tcPr>
                    <a:solidFill>
                      <a:srgbClr val="FFFFFF"/>
                    </a:solidFill>
                  </a:tcPr>
                </a:tc>
                <a:tc>
                  <a:txBody>
                    <a:bodyPr/>
                    <a:lstStyle/>
                    <a:p>
                      <a:pPr algn="ctr"/>
                      <a:r>
                        <a:rPr sz="1350" b="0">
                          <a:solidFill>
                            <a:srgbClr val="17212B"/>
                          </a:solidFill>
                          <a:latin typeface="Arial"/>
                          <a:ea typeface="Arial"/>
                          <a:cs typeface="Arial"/>
                        </a:rPr>
                        <a:t>8</a:t>
                      </a:r>
                    </a:p>
                  </a:txBody>
                  <a:tcPr>
                    <a:solidFill>
                      <a:srgbClr val="FFFFFF"/>
                    </a:solidFill>
                  </a:tcPr>
                </a:tc>
                <a:tc>
                  <a:txBody>
                    <a:bodyPr/>
                    <a:lstStyle/>
                    <a:p>
                      <a:pPr algn="ctr"/>
                      <a:r>
                        <a:rPr sz="1350" b="0">
                          <a:solidFill>
                            <a:srgbClr val="17212B"/>
                          </a:solidFill>
                          <a:latin typeface="Arial"/>
                          <a:ea typeface="Arial"/>
                          <a:cs typeface="Arial"/>
                        </a:rPr>
                        <a:t>0.002730</a:t>
                      </a:r>
                    </a:p>
                  </a:txBody>
                  <a:tcPr>
                    <a:solidFill>
                      <a:srgbClr val="FFFFFF"/>
                    </a:solidFill>
                  </a:tcPr>
                </a:tc>
                <a:tc>
                  <a:txBody>
                    <a:bodyPr/>
                    <a:lstStyle/>
                    <a:p>
                      <a:pPr algn="ctr"/>
                      <a:r>
                        <a:rPr sz="1350" b="0">
                          <a:solidFill>
                            <a:srgbClr val="17212B"/>
                          </a:solidFill>
                          <a:latin typeface="Arial"/>
                          <a:ea typeface="Arial"/>
                          <a:cs typeface="Arial"/>
                        </a:rPr>
                        <a:t>25.64</a:t>
                      </a:r>
                    </a:p>
                  </a:txBody>
                  <a:tcPr>
                    <a:solidFill>
                      <a:srgbClr val="FFFFFF"/>
                    </a:solidFill>
                  </a:tcPr>
                </a:tc>
                <a:extLst>
                  <a:ext uri="{0D108BD9-81ED-4DB2-BD59-A6C34878D82A}">
                    <a16:rowId xmlns:a16="http://schemas.microsoft.com/office/drawing/2014/main" val="10007"/>
                  </a:ext>
                </a:extLst>
              </a:tr>
            </a:tbl>
          </a:graphicData>
        </a:graphic>
      </p:graphicFrame>
      <p:sp>
        <p:nvSpPr>
          <p:cNvPr id="5" name="Rechteck 4">
            <a:extLst>
              <a:ext uri="{FF2B5EF4-FFF2-40B4-BE49-F238E27FC236}">
                <a16:creationId xmlns:a16="http://schemas.microsoft.com/office/drawing/2014/main" id="{5304C485-B5C3-4FC0-BBFE-B9FF64E04899}"/>
              </a:ext>
            </a:extLst>
          </p:cNvPr>
          <p:cNvSpPr>
            <a:spLocks noGrp="1"/>
          </p:cNvSpPr>
          <p:nvPr/>
        </p:nvSpPr>
        <p:spPr>
          <a:xfrm>
            <a:off x="9096375" y="1866900"/>
            <a:ext cx="2095500" cy="609600"/>
          </a:xfrm>
          <a:prstGeom prst="rect">
            <a:avLst/>
          </a:prstGeom>
          <a:noFill/>
          <a:ln w="0">
            <a:noFill/>
          </a:ln>
        </p:spPr>
        <p:txBody>
          <a:bodyPr anchor="ctr">
            <a:noAutofit/>
          </a:bodyPr>
          <a:lstStyle/>
          <a:p>
            <a:pPr algn="ctr">
              <a:defRPr sz="3150" b="1">
                <a:solidFill>
                  <a:srgbClr val="D76F3E"/>
                </a:solidFill>
                <a:latin typeface="Arial"/>
                <a:ea typeface="Arial"/>
                <a:cs typeface="Arial"/>
              </a:defRPr>
            </a:pPr>
            <a:r>
              <a:rPr sz="3150" b="1">
                <a:solidFill>
                  <a:srgbClr val="D76F3E"/>
                </a:solidFill>
                <a:latin typeface="Arial"/>
                <a:ea typeface="Arial"/>
                <a:cs typeface="Arial"/>
              </a:rPr>
              <a:t>T0=4</a:t>
            </a:r>
          </a:p>
        </p:txBody>
      </p:sp>
      <p:sp>
        <p:nvSpPr>
          <p:cNvPr id="6" name="Rechteck 5">
            <a:extLst>
              <a:ext uri="{FF2B5EF4-FFF2-40B4-BE49-F238E27FC236}">
                <a16:creationId xmlns:a16="http://schemas.microsoft.com/office/drawing/2014/main" id="{F1554F6B-BED8-4347-B189-EB313F734894}"/>
              </a:ext>
            </a:extLst>
          </p:cNvPr>
          <p:cNvSpPr>
            <a:spLocks noGrp="1"/>
          </p:cNvSpPr>
          <p:nvPr/>
        </p:nvSpPr>
        <p:spPr>
          <a:xfrm>
            <a:off x="9096375" y="2457450"/>
            <a:ext cx="2095500" cy="762000"/>
          </a:xfrm>
          <a:prstGeom prst="rect">
            <a:avLst/>
          </a:prstGeom>
          <a:noFill/>
          <a:ln w="0">
            <a:noFill/>
          </a:ln>
        </p:spPr>
        <p:txBody>
          <a:bodyPr anchor="ctr">
            <a:noAutofit/>
          </a:bodyPr>
          <a:lstStyle/>
          <a:p>
            <a:pPr algn="ctr">
              <a:defRPr sz="1800" b="1">
                <a:solidFill>
                  <a:srgbClr val="17324D"/>
                </a:solidFill>
                <a:latin typeface="Arial"/>
                <a:ea typeface="Arial"/>
                <a:cs typeface="Arial"/>
              </a:defRPr>
            </a:pPr>
            <a:r>
              <a:rPr sz="1800" b="1">
                <a:solidFill>
                  <a:srgbClr val="17324D"/>
                </a:solidFill>
                <a:latin typeface="Arial"/>
                <a:ea typeface="Arial"/>
                <a:cs typeface="Arial"/>
              </a:rPr>
              <a:t>mejor caso</a:t>
            </a:r>
          </a:p>
          <a:p>
            <a:pPr algn="ctr">
              <a:defRPr sz="1800" b="1">
                <a:solidFill>
                  <a:srgbClr val="17324D"/>
                </a:solidFill>
                <a:latin typeface="Arial"/>
                <a:ea typeface="Arial"/>
                <a:cs typeface="Arial"/>
              </a:defRPr>
            </a:pPr>
            <a:r>
              <a:rPr sz="1800" b="1">
                <a:solidFill>
                  <a:srgbClr val="17324D"/>
                </a:solidFill>
                <a:latin typeface="Arial"/>
                <a:ea typeface="Arial"/>
                <a:cs typeface="Arial"/>
              </a:rPr>
              <a:t>ruidoso</a:t>
            </a:r>
          </a:p>
        </p:txBody>
      </p:sp>
      <p:sp>
        <p:nvSpPr>
          <p:cNvPr id="7" name="Rechteck 6">
            <a:extLst>
              <a:ext uri="{FF2B5EF4-FFF2-40B4-BE49-F238E27FC236}">
                <a16:creationId xmlns:a16="http://schemas.microsoft.com/office/drawing/2014/main" id="{47EC125B-30FD-45AE-9C62-5629543A95D2}"/>
              </a:ext>
            </a:extLst>
          </p:cNvPr>
          <p:cNvSpPr>
            <a:spLocks noGrp="1"/>
          </p:cNvSpPr>
          <p:nvPr/>
        </p:nvSpPr>
        <p:spPr>
          <a:xfrm>
            <a:off x="9096375" y="3524250"/>
            <a:ext cx="2095500" cy="552450"/>
          </a:xfrm>
          <a:prstGeom prst="rect">
            <a:avLst/>
          </a:prstGeom>
          <a:noFill/>
          <a:ln w="0">
            <a:noFill/>
          </a:ln>
        </p:spPr>
        <p:txBody>
          <a:bodyPr anchor="ctr">
            <a:noAutofit/>
          </a:bodyPr>
          <a:lstStyle/>
          <a:p>
            <a:pPr algn="ctr">
              <a:defRPr sz="2550" b="1">
                <a:solidFill>
                  <a:srgbClr val="1F5A8A"/>
                </a:solidFill>
                <a:latin typeface="Arial"/>
                <a:ea typeface="Arial"/>
                <a:cs typeface="Arial"/>
              </a:defRPr>
            </a:pPr>
            <a:r>
              <a:rPr sz="2550" b="1">
                <a:solidFill>
                  <a:srgbClr val="1F5A8A"/>
                </a:solidFill>
                <a:latin typeface="Arial"/>
                <a:ea typeface="Arial"/>
                <a:cs typeface="Arial"/>
              </a:rPr>
              <a:t>26.12 dB</a:t>
            </a:r>
          </a:p>
        </p:txBody>
      </p:sp>
      <p:sp>
        <p:nvSpPr>
          <p:cNvPr id="8" name="Rechteck 7">
            <a:extLst>
              <a:ext uri="{FF2B5EF4-FFF2-40B4-BE49-F238E27FC236}">
                <a16:creationId xmlns:a16="http://schemas.microsoft.com/office/drawing/2014/main" id="{1FBF4AB8-A094-4253-B9A1-3D734535EE1B}"/>
              </a:ext>
            </a:extLst>
          </p:cNvPr>
          <p:cNvSpPr>
            <a:spLocks noGrp="1"/>
          </p:cNvSpPr>
          <p:nvPr/>
        </p:nvSpPr>
        <p:spPr>
          <a:xfrm>
            <a:off x="9096375" y="4191000"/>
            <a:ext cx="2095500" cy="762000"/>
          </a:xfrm>
          <a:prstGeom prst="rect">
            <a:avLst/>
          </a:prstGeom>
          <a:noFill/>
          <a:ln w="0">
            <a:noFill/>
          </a:ln>
        </p:spPr>
        <p:txBody>
          <a:bodyPr anchor="ctr">
            <a:noAutofit/>
          </a:bodyPr>
          <a:lstStyle/>
          <a:p>
            <a:pPr algn="ctr">
              <a:defRPr sz="1725" b="0">
                <a:solidFill>
                  <a:srgbClr val="17212B"/>
                </a:solidFill>
                <a:latin typeface="Arial"/>
                <a:ea typeface="Arial"/>
                <a:cs typeface="Arial"/>
              </a:defRPr>
            </a:pPr>
            <a:r>
              <a:rPr sz="1725" b="0">
                <a:solidFill>
                  <a:srgbClr val="17212B"/>
                </a:solidFill>
                <a:latin typeface="Arial"/>
                <a:ea typeface="Arial"/>
                <a:cs typeface="Arial"/>
              </a:rPr>
              <a:t>+4.03 dB</a:t>
            </a:r>
          </a:p>
          <a:p>
            <a:pPr algn="ctr">
              <a:defRPr sz="1725" b="0">
                <a:solidFill>
                  <a:srgbClr val="17212B"/>
                </a:solidFill>
                <a:latin typeface="Arial"/>
                <a:ea typeface="Arial"/>
                <a:cs typeface="Arial"/>
              </a:defRPr>
            </a:pPr>
            <a:r>
              <a:rPr sz="1725" b="0">
                <a:solidFill>
                  <a:srgbClr val="17212B"/>
                </a:solidFill>
                <a:latin typeface="Arial"/>
                <a:ea typeface="Arial"/>
                <a:cs typeface="Arial"/>
              </a:rPr>
              <a:t>sobre la entrada</a:t>
            </a:r>
          </a:p>
        </p:txBody>
      </p:sp>
      <p:sp>
        <p:nvSpPr>
          <p:cNvPr id="9" name="Rechteck 8">
            <a:extLst>
              <a:ext uri="{FF2B5EF4-FFF2-40B4-BE49-F238E27FC236}">
                <a16:creationId xmlns:a16="http://schemas.microsoft.com/office/drawing/2014/main" id="{B91DCA1F-26C4-4377-8C52-284ECEDC3F39}"/>
              </a:ext>
            </a:extLst>
          </p:cNvPr>
          <p:cNvSpPr>
            <a:spLocks noGrp="1"/>
          </p:cNvSpPr>
          <p:nvPr/>
        </p:nvSpPr>
        <p:spPr>
          <a:xfrm>
            <a:off x="666750" y="5743575"/>
            <a:ext cx="7905750" cy="304800"/>
          </a:xfrm>
          <a:prstGeom prst="rect">
            <a:avLst/>
          </a:prstGeom>
          <a:noFill/>
          <a:ln w="0">
            <a:noFill/>
          </a:ln>
        </p:spPr>
        <p:txBody>
          <a:bodyPr anchor="ctr">
            <a:noAutofit/>
          </a:bodyPr>
          <a:lstStyle/>
          <a:p>
            <a:pPr algn="ctr">
              <a:defRPr sz="1200" b="0">
                <a:solidFill>
                  <a:srgbClr val="53616E"/>
                </a:solidFill>
                <a:latin typeface="Arial"/>
                <a:ea typeface="Arial"/>
                <a:cs typeface="Arial"/>
              </a:defRPr>
            </a:pPr>
            <a:r>
              <a:rPr sz="1200" b="0">
                <a:solidFill>
                  <a:srgbClr val="53616E"/>
                </a:solidFill>
                <a:latin typeface="Arial"/>
                <a:ea typeface="Arial"/>
                <a:cs typeface="Arial"/>
              </a:rPr>
              <a:t>Tabla editable en PowerPoint</a:t>
            </a:r>
          </a:p>
        </p:txBody>
      </p:sp>
      <p:sp>
        <p:nvSpPr>
          <p:cNvPr id="10" name="Rechteck 9">
            <a:extLst>
              <a:ext uri="{FF2B5EF4-FFF2-40B4-BE49-F238E27FC236}">
                <a16:creationId xmlns:a16="http://schemas.microsoft.com/office/drawing/2014/main" id="{5B9ABF01-98E0-432E-AD8C-DFECA7792B10}"/>
              </a:ext>
            </a:extLst>
          </p:cNvPr>
          <p:cNvSpPr>
            <a:spLocks noGrp="1"/>
          </p:cNvSpPr>
          <p:nvPr/>
        </p:nvSpPr>
        <p:spPr>
          <a:xfrm>
            <a:off x="7334250" y="6419850"/>
            <a:ext cx="4238625" cy="228600"/>
          </a:xfrm>
          <a:prstGeom prst="rect">
            <a:avLst/>
          </a:prstGeom>
          <a:noFill/>
          <a:ln w="0">
            <a:noFill/>
          </a:ln>
        </p:spPr>
        <p:txBody>
          <a:bodyPr anchor="ctr">
            <a:noAutofit/>
          </a:bodyPr>
          <a:lstStyle/>
          <a:p>
            <a:pPr algn="r">
              <a:defRPr sz="1050" b="1">
                <a:solidFill>
                  <a:srgbClr val="1F5A8A"/>
                </a:solidFill>
                <a:latin typeface="Arial"/>
                <a:ea typeface="Arial"/>
                <a:cs typeface="Arial"/>
              </a:defRPr>
            </a:pPr>
            <a:r>
              <a:rPr sz="1050" b="1">
                <a:solidFill>
                  <a:srgbClr val="1F5A8A"/>
                </a:solidFill>
                <a:latin typeface="Arial"/>
                <a:ea typeface="Arial"/>
                <a:cs typeface="Arial"/>
              </a:rPr>
              <a:t>Sergio · Integrante 3</a:t>
            </a:r>
          </a:p>
        </p:txBody>
      </p:sp>
    </p:spTree>
    <p:extLst>
      <p:ext uri="{BB962C8B-B14F-4D97-AF65-F5344CB8AC3E}">
        <p14:creationId xmlns:p14="http://schemas.microsoft.com/office/powerpoint/2010/main" val="892303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065A0DD9-4B34-4CB6-B946-7009F0115979}"/>
              </a:ext>
            </a:extLst>
          </p:cNvPr>
          <p:cNvSpPr>
            <a:spLocks noGrp="1"/>
          </p:cNvSpPr>
          <p:nvPr/>
        </p:nvSpPr>
        <p:spPr>
          <a:xfrm>
            <a:off x="647700" y="381000"/>
            <a:ext cx="10096500" cy="628650"/>
          </a:xfrm>
          <a:prstGeom prst="rect">
            <a:avLst/>
          </a:prstGeom>
          <a:noFill/>
          <a:ln w="0">
            <a:noFill/>
          </a:ln>
        </p:spPr>
        <p:txBody>
          <a:bodyPr anchor="ctr">
            <a:noAutofit/>
          </a:bodyPr>
          <a:lstStyle/>
          <a:p>
            <a:pPr algn="l">
              <a:defRPr sz="2700" b="1">
                <a:solidFill>
                  <a:srgbClr val="17324D"/>
                </a:solidFill>
                <a:latin typeface="Arial"/>
                <a:ea typeface="Arial"/>
                <a:cs typeface="Arial"/>
              </a:defRPr>
            </a:pPr>
            <a:r>
              <a:rPr sz="2700" b="1">
                <a:solidFill>
                  <a:srgbClr val="17324D"/>
                </a:solidFill>
                <a:latin typeface="Arial"/>
                <a:ea typeface="Arial"/>
                <a:cs typeface="Arial"/>
              </a:rPr>
              <a:t>T0 controla el compromiso entre detalle y ruido</a:t>
            </a:r>
          </a:p>
        </p:txBody>
      </p:sp>
      <p:sp>
        <p:nvSpPr>
          <p:cNvPr id="2" name="Rechteck 1">
            <a:extLst>
              <a:ext uri="{FF2B5EF4-FFF2-40B4-BE49-F238E27FC236}">
                <a16:creationId xmlns:a16="http://schemas.microsoft.com/office/drawing/2014/main" id="{4BCC27C0-F4A0-49C6-A45F-9EB9F53E7C70}"/>
              </a:ext>
            </a:extLst>
          </p:cNvPr>
          <p:cNvSpPr>
            <a:spLocks noGrp="1"/>
          </p:cNvSpPr>
          <p:nvPr/>
        </p:nvSpPr>
        <p:spPr>
          <a:xfrm>
            <a:off x="11144250" y="419100"/>
            <a:ext cx="419100" cy="323850"/>
          </a:xfrm>
          <a:prstGeom prst="rect">
            <a:avLst/>
          </a:prstGeom>
          <a:noFill/>
          <a:ln w="0">
            <a:noFill/>
          </a:ln>
        </p:spPr>
        <p:txBody>
          <a:bodyPr anchor="ctr">
            <a:noAutofit/>
          </a:bodyPr>
          <a:lstStyle/>
          <a:p>
            <a:pPr algn="r">
              <a:defRPr sz="1275" b="1">
                <a:solidFill>
                  <a:srgbClr val="D76F3E"/>
                </a:solidFill>
                <a:latin typeface="Arial"/>
                <a:ea typeface="Arial"/>
                <a:cs typeface="Arial"/>
              </a:defRPr>
            </a:pPr>
            <a:r>
              <a:rPr sz="1275" b="1">
                <a:solidFill>
                  <a:srgbClr val="D76F3E"/>
                </a:solidFill>
                <a:latin typeface="Arial"/>
                <a:ea typeface="Arial"/>
                <a:cs typeface="Arial"/>
              </a:rPr>
              <a:t>7</a:t>
            </a:r>
          </a:p>
        </p:txBody>
      </p:sp>
      <p:sp>
        <p:nvSpPr>
          <p:cNvPr id="3" name="Rechteck 2">
            <a:extLst>
              <a:ext uri="{FF2B5EF4-FFF2-40B4-BE49-F238E27FC236}">
                <a16:creationId xmlns:a16="http://schemas.microsoft.com/office/drawing/2014/main" id="{DB3B40C7-7146-49F9-9552-553789591820}"/>
              </a:ext>
            </a:extLst>
          </p:cNvPr>
          <p:cNvSpPr>
            <a:spLocks noGrp="1"/>
          </p:cNvSpPr>
          <p:nvPr/>
        </p:nvSpPr>
        <p:spPr>
          <a:xfrm>
            <a:off x="647700" y="6457950"/>
            <a:ext cx="5715000" cy="209550"/>
          </a:xfrm>
          <a:prstGeom prst="rect">
            <a:avLst/>
          </a:prstGeom>
          <a:noFill/>
          <a:ln w="0">
            <a:noFill/>
          </a:ln>
        </p:spPr>
        <p:txBody>
          <a:bodyPr anchor="ctr">
            <a:noAutofit/>
          </a:bodyPr>
          <a:lstStyle/>
          <a:p>
            <a:pPr algn="l">
              <a:defRPr sz="1050" b="0">
                <a:solidFill>
                  <a:srgbClr val="53616E"/>
                </a:solidFill>
                <a:latin typeface="Arial"/>
                <a:ea typeface="Arial"/>
                <a:cs typeface="Arial"/>
              </a:defRPr>
            </a:pPr>
            <a:r>
              <a:rPr sz="1050" b="0">
                <a:solidFill>
                  <a:srgbClr val="53616E"/>
                </a:solidFill>
                <a:latin typeface="Arial"/>
                <a:ea typeface="Arial"/>
                <a:cs typeface="Arial"/>
              </a:rPr>
              <a:t>Matemáticas Computacionales · K-SVD</a:t>
            </a:r>
          </a:p>
        </p:txBody>
      </p:sp>
      <p:sp>
        <p:nvSpPr>
          <p:cNvPr id="4" name="Rechteck 3">
            <a:extLst>
              <a:ext uri="{FF2B5EF4-FFF2-40B4-BE49-F238E27FC236}">
                <a16:creationId xmlns:a16="http://schemas.microsoft.com/office/drawing/2014/main" id="{612AD4D2-4445-4B06-8763-61DBDA7CAB28}"/>
              </a:ext>
            </a:extLst>
          </p:cNvPr>
          <p:cNvSpPr>
            <a:spLocks noGrp="1"/>
          </p:cNvSpPr>
          <p:nvPr/>
        </p:nvSpPr>
        <p:spPr>
          <a:xfrm>
            <a:off x="742950" y="1581150"/>
            <a:ext cx="2857500" cy="400050"/>
          </a:xfrm>
          <a:prstGeom prst="rect">
            <a:avLst/>
          </a:prstGeom>
          <a:noFill/>
          <a:ln w="0">
            <a:noFill/>
          </a:ln>
        </p:spPr>
        <p:txBody>
          <a:bodyPr anchor="ctr">
            <a:noAutofit/>
          </a:bodyPr>
          <a:lstStyle/>
          <a:p>
            <a:pPr algn="l">
              <a:defRPr sz="2025" b="1">
                <a:solidFill>
                  <a:srgbClr val="1F5A8A"/>
                </a:solidFill>
                <a:latin typeface="Arial"/>
                <a:ea typeface="Arial"/>
                <a:cs typeface="Arial"/>
              </a:defRPr>
            </a:pPr>
            <a:r>
              <a:rPr sz="2025" b="1">
                <a:solidFill>
                  <a:srgbClr val="1F5A8A"/>
                </a:solidFill>
                <a:latin typeface="Arial"/>
                <a:ea typeface="Arial"/>
                <a:cs typeface="Arial"/>
              </a:rPr>
              <a:t>Imagen limpia</a:t>
            </a:r>
          </a:p>
        </p:txBody>
      </p:sp>
      <p:sp>
        <p:nvSpPr>
          <p:cNvPr id="5" name="Rechteck 4">
            <a:extLst>
              <a:ext uri="{FF2B5EF4-FFF2-40B4-BE49-F238E27FC236}">
                <a16:creationId xmlns:a16="http://schemas.microsoft.com/office/drawing/2014/main" id="{979FCAE3-EEE5-41B8-B122-186D4A82B853}"/>
              </a:ext>
            </a:extLst>
          </p:cNvPr>
          <p:cNvSpPr>
            <a:spLocks noGrp="1"/>
          </p:cNvSpPr>
          <p:nvPr/>
        </p:nvSpPr>
        <p:spPr>
          <a:xfrm>
            <a:off x="742950" y="2009775"/>
            <a:ext cx="3143250" cy="552450"/>
          </a:xfrm>
          <a:prstGeom prst="rect">
            <a:avLst/>
          </a:prstGeom>
          <a:noFill/>
          <a:ln w="0">
            <a:noFill/>
          </a:ln>
        </p:spPr>
        <p:txBody>
          <a:bodyPr anchor="ctr">
            <a:noAutofit/>
          </a:bodyPr>
          <a:lstStyle/>
          <a:p>
            <a:pPr algn="l">
              <a:defRPr sz="1500" b="0">
                <a:solidFill>
                  <a:srgbClr val="17212B"/>
                </a:solidFill>
                <a:latin typeface="Arial"/>
                <a:ea typeface="Arial"/>
                <a:cs typeface="Arial"/>
              </a:defRPr>
            </a:pPr>
            <a:r>
              <a:rPr sz="1500" b="0">
                <a:solidFill>
                  <a:srgbClr val="17212B"/>
                </a:solidFill>
                <a:latin typeface="Arial"/>
                <a:ea typeface="Arial"/>
                <a:cs typeface="Arial"/>
              </a:rPr>
              <a:t>más átomos → mejor representación</a:t>
            </a:r>
          </a:p>
        </p:txBody>
      </p:sp>
      <p:sp>
        <p:nvSpPr>
          <p:cNvPr id="6" name="Rechteck 5">
            <a:extLst>
              <a:ext uri="{FF2B5EF4-FFF2-40B4-BE49-F238E27FC236}">
                <a16:creationId xmlns:a16="http://schemas.microsoft.com/office/drawing/2014/main" id="{3033A438-BA8F-469D-832A-6A3B3F8D11FD}"/>
              </a:ext>
            </a:extLst>
          </p:cNvPr>
          <p:cNvSpPr>
            <a:spLocks noGrp="1"/>
          </p:cNvSpPr>
          <p:nvPr/>
        </p:nvSpPr>
        <p:spPr>
          <a:xfrm>
            <a:off x="742950" y="3048000"/>
            <a:ext cx="2857500" cy="400050"/>
          </a:xfrm>
          <a:prstGeom prst="rect">
            <a:avLst/>
          </a:prstGeom>
          <a:noFill/>
          <a:ln w="0">
            <a:noFill/>
          </a:ln>
        </p:spPr>
        <p:txBody>
          <a:bodyPr anchor="ctr">
            <a:noAutofit/>
          </a:bodyPr>
          <a:lstStyle/>
          <a:p>
            <a:pPr algn="l">
              <a:defRPr sz="2025" b="1">
                <a:solidFill>
                  <a:srgbClr val="D76F3E"/>
                </a:solidFill>
                <a:latin typeface="Arial"/>
                <a:ea typeface="Arial"/>
                <a:cs typeface="Arial"/>
              </a:defRPr>
            </a:pPr>
            <a:r>
              <a:rPr sz="2025" b="1">
                <a:solidFill>
                  <a:srgbClr val="D76F3E"/>
                </a:solidFill>
                <a:latin typeface="Arial"/>
                <a:ea typeface="Arial"/>
                <a:cs typeface="Arial"/>
              </a:rPr>
              <a:t>Imagen ruidosa</a:t>
            </a:r>
          </a:p>
        </p:txBody>
      </p:sp>
      <p:sp>
        <p:nvSpPr>
          <p:cNvPr id="7" name="Rechteck 6">
            <a:extLst>
              <a:ext uri="{FF2B5EF4-FFF2-40B4-BE49-F238E27FC236}">
                <a16:creationId xmlns:a16="http://schemas.microsoft.com/office/drawing/2014/main" id="{18BB79D3-2038-4C65-9453-4841440260AC}"/>
              </a:ext>
            </a:extLst>
          </p:cNvPr>
          <p:cNvSpPr>
            <a:spLocks noGrp="1"/>
          </p:cNvSpPr>
          <p:nvPr/>
        </p:nvSpPr>
        <p:spPr>
          <a:xfrm>
            <a:off x="742950" y="3476625"/>
            <a:ext cx="3143250" cy="781050"/>
          </a:xfrm>
          <a:prstGeom prst="rect">
            <a:avLst/>
          </a:prstGeom>
          <a:noFill/>
          <a:ln w="0">
            <a:noFill/>
          </a:ln>
        </p:spPr>
        <p:txBody>
          <a:bodyPr anchor="ctr">
            <a:noAutofit/>
          </a:bodyPr>
          <a:lstStyle/>
          <a:p>
            <a:pPr algn="l">
              <a:defRPr sz="1500" b="0">
                <a:solidFill>
                  <a:srgbClr val="17212B"/>
                </a:solidFill>
                <a:latin typeface="Arial"/>
                <a:ea typeface="Arial"/>
                <a:cs typeface="Arial"/>
              </a:defRPr>
            </a:pPr>
            <a:r>
              <a:rPr sz="1500" b="0">
                <a:solidFill>
                  <a:srgbClr val="17212B"/>
                </a:solidFill>
                <a:latin typeface="Arial"/>
                <a:ea typeface="Arial"/>
                <a:cs typeface="Arial"/>
              </a:rPr>
              <a:t>máximo en T0=4</a:t>
            </a:r>
          </a:p>
          <a:p>
            <a:pPr algn="l">
              <a:defRPr sz="1500" b="0">
                <a:solidFill>
                  <a:srgbClr val="17212B"/>
                </a:solidFill>
                <a:latin typeface="Arial"/>
                <a:ea typeface="Arial"/>
                <a:cs typeface="Arial"/>
              </a:defRPr>
            </a:pPr>
            <a:r>
              <a:rPr sz="1500" b="0">
                <a:solidFill>
                  <a:srgbClr val="17212B"/>
                </a:solidFill>
                <a:latin typeface="Arial"/>
                <a:ea typeface="Arial"/>
                <a:cs typeface="Arial"/>
              </a:rPr>
              <a:t>T0=8 también ajusta ruido</a:t>
            </a:r>
          </a:p>
        </p:txBody>
      </p:sp>
      <p:sp>
        <p:nvSpPr>
          <p:cNvPr id="8" name="Rechteck 7">
            <a:extLst>
              <a:ext uri="{FF2B5EF4-FFF2-40B4-BE49-F238E27FC236}">
                <a16:creationId xmlns:a16="http://schemas.microsoft.com/office/drawing/2014/main" id="{940541F6-C983-49C8-801F-9308F5B09C11}"/>
              </a:ext>
            </a:extLst>
          </p:cNvPr>
          <p:cNvSpPr>
            <a:spLocks noGrp="1"/>
          </p:cNvSpPr>
          <p:nvPr/>
        </p:nvSpPr>
        <p:spPr>
          <a:xfrm>
            <a:off x="742950" y="4905375"/>
            <a:ext cx="3143250" cy="742950"/>
          </a:xfrm>
          <a:prstGeom prst="rect">
            <a:avLst/>
          </a:prstGeom>
          <a:noFill/>
          <a:ln w="0">
            <a:noFill/>
          </a:ln>
        </p:spPr>
        <p:txBody>
          <a:bodyPr anchor="ctr">
            <a:noAutofit/>
          </a:bodyPr>
          <a:lstStyle/>
          <a:p>
            <a:pPr algn="l">
              <a:defRPr sz="1350" b="0">
                <a:solidFill>
                  <a:srgbClr val="53616E"/>
                </a:solidFill>
                <a:latin typeface="Arial"/>
                <a:ea typeface="Arial"/>
                <a:cs typeface="Arial"/>
              </a:defRPr>
            </a:pPr>
            <a:r>
              <a:rPr sz="1350" b="0">
                <a:solidFill>
                  <a:srgbClr val="53616E"/>
                </a:solidFill>
                <a:latin typeface="Arial"/>
                <a:ea typeface="Arial"/>
                <a:cs typeface="Arial"/>
              </a:rPr>
              <a:t>La explicación es interpretación; el máximo sí es una medición.</a:t>
            </a:r>
          </a:p>
        </p:txBody>
      </p:sp>
      <p:graphicFrame>
        <p:nvGraphicFramePr>
          <p:cNvPr id="19" name="Chart"/>
          <p:cNvGraphicFramePr/>
          <p:nvPr/>
        </p:nvGraphicFramePr>
        <p:xfrm>
          <a:off x="4000500" y="1371600"/>
          <a:ext cx="7286625" cy="4524375"/>
        </p:xfrm>
        <a:graphic>
          <a:graphicData uri="http://schemas.openxmlformats.org/drawingml/2006/chart">
            <c:chart xmlns:c="http://schemas.openxmlformats.org/drawingml/2006/chart" xmlns:r="http://schemas.openxmlformats.org/officeDocument/2006/relationships" r:id="rId3"/>
          </a:graphicData>
        </a:graphic>
      </p:graphicFrame>
      <p:sp>
        <p:nvSpPr>
          <p:cNvPr id="10" name="Rechteck 9">
            <a:extLst>
              <a:ext uri="{FF2B5EF4-FFF2-40B4-BE49-F238E27FC236}">
                <a16:creationId xmlns:a16="http://schemas.microsoft.com/office/drawing/2014/main" id="{2D76E77C-4797-4E51-97F2-6F43CC00445B}"/>
              </a:ext>
            </a:extLst>
          </p:cNvPr>
          <p:cNvSpPr>
            <a:spLocks noGrp="1"/>
          </p:cNvSpPr>
          <p:nvPr/>
        </p:nvSpPr>
        <p:spPr>
          <a:xfrm>
            <a:off x="7334250" y="6419850"/>
            <a:ext cx="4238625" cy="228600"/>
          </a:xfrm>
          <a:prstGeom prst="rect">
            <a:avLst/>
          </a:prstGeom>
          <a:noFill/>
          <a:ln w="0">
            <a:noFill/>
          </a:ln>
        </p:spPr>
        <p:txBody>
          <a:bodyPr anchor="ctr">
            <a:noAutofit/>
          </a:bodyPr>
          <a:lstStyle/>
          <a:p>
            <a:pPr algn="r">
              <a:defRPr sz="1050" b="1">
                <a:solidFill>
                  <a:srgbClr val="D76F3E"/>
                </a:solidFill>
                <a:latin typeface="Arial"/>
                <a:ea typeface="Arial"/>
                <a:cs typeface="Arial"/>
              </a:defRPr>
            </a:pPr>
            <a:r>
              <a:rPr sz="1050" b="1">
                <a:solidFill>
                  <a:srgbClr val="D76F3E"/>
                </a:solidFill>
                <a:latin typeface="Arial"/>
                <a:ea typeface="Arial"/>
                <a:cs typeface="Arial"/>
              </a:rPr>
              <a:t>Areli · Integrante 4</a:t>
            </a:r>
          </a:p>
        </p:txBody>
      </p:sp>
    </p:spTree>
    <p:extLst>
      <p:ext uri="{BB962C8B-B14F-4D97-AF65-F5344CB8AC3E}">
        <p14:creationId xmlns:p14="http://schemas.microsoft.com/office/powerpoint/2010/main" val="20023151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14" name="Rechteck 13">
            <a:extLst>
              <a:ext uri="{FF2B5EF4-FFF2-40B4-BE49-F238E27FC236}">
                <a16:creationId xmlns:a16="http://schemas.microsoft.com/office/drawing/2014/main" id="{442D1883-BC71-41F4-BA51-FEAAF504357E}"/>
              </a:ext>
            </a:extLst>
          </p:cNvPr>
          <p:cNvSpPr>
            <a:spLocks noGrp="1"/>
          </p:cNvSpPr>
          <p:nvPr/>
        </p:nvSpPr>
        <p:spPr>
          <a:xfrm>
            <a:off x="647700" y="381000"/>
            <a:ext cx="10096500" cy="628650"/>
          </a:xfrm>
          <a:prstGeom prst="rect">
            <a:avLst/>
          </a:prstGeom>
          <a:noFill/>
          <a:ln w="0">
            <a:noFill/>
          </a:ln>
        </p:spPr>
        <p:txBody>
          <a:bodyPr anchor="ctr">
            <a:noAutofit/>
          </a:bodyPr>
          <a:lstStyle/>
          <a:p>
            <a:pPr algn="l">
              <a:defRPr sz="2700" b="1">
                <a:solidFill>
                  <a:srgbClr val="17324D"/>
                </a:solidFill>
                <a:latin typeface="Arial"/>
                <a:ea typeface="Arial"/>
                <a:cs typeface="Arial"/>
              </a:defRPr>
            </a:pPr>
            <a:r>
              <a:rPr sz="2700" b="1">
                <a:solidFill>
                  <a:srgbClr val="17324D"/>
                </a:solidFill>
                <a:latin typeface="Arial"/>
                <a:ea typeface="Arial"/>
                <a:cs typeface="Arial"/>
              </a:rPr>
              <a:t>Conclusiones y alcance de la evidencia</a:t>
            </a:r>
          </a:p>
        </p:txBody>
      </p:sp>
      <p:sp>
        <p:nvSpPr>
          <p:cNvPr id="2" name="Rechteck 1">
            <a:extLst>
              <a:ext uri="{FF2B5EF4-FFF2-40B4-BE49-F238E27FC236}">
                <a16:creationId xmlns:a16="http://schemas.microsoft.com/office/drawing/2014/main" id="{2626F791-7A87-492A-8BB9-F0BE8D3C6496}"/>
              </a:ext>
            </a:extLst>
          </p:cNvPr>
          <p:cNvSpPr>
            <a:spLocks noGrp="1"/>
          </p:cNvSpPr>
          <p:nvPr/>
        </p:nvSpPr>
        <p:spPr>
          <a:xfrm>
            <a:off x="11144250" y="419100"/>
            <a:ext cx="419100" cy="323850"/>
          </a:xfrm>
          <a:prstGeom prst="rect">
            <a:avLst/>
          </a:prstGeom>
          <a:noFill/>
          <a:ln w="0">
            <a:noFill/>
          </a:ln>
        </p:spPr>
        <p:txBody>
          <a:bodyPr anchor="ctr">
            <a:noAutofit/>
          </a:bodyPr>
          <a:lstStyle/>
          <a:p>
            <a:pPr algn="r">
              <a:defRPr sz="1275" b="1">
                <a:solidFill>
                  <a:srgbClr val="D76F3E"/>
                </a:solidFill>
                <a:latin typeface="Arial"/>
                <a:ea typeface="Arial"/>
                <a:cs typeface="Arial"/>
              </a:defRPr>
            </a:pPr>
            <a:r>
              <a:rPr sz="1275" b="1">
                <a:solidFill>
                  <a:srgbClr val="D76F3E"/>
                </a:solidFill>
                <a:latin typeface="Arial"/>
                <a:ea typeface="Arial"/>
                <a:cs typeface="Arial"/>
              </a:rPr>
              <a:t>8</a:t>
            </a:r>
          </a:p>
        </p:txBody>
      </p:sp>
      <p:sp>
        <p:nvSpPr>
          <p:cNvPr id="3" name="Rechteck 2">
            <a:extLst>
              <a:ext uri="{FF2B5EF4-FFF2-40B4-BE49-F238E27FC236}">
                <a16:creationId xmlns:a16="http://schemas.microsoft.com/office/drawing/2014/main" id="{D4542D19-AEAE-4D2A-9398-263441E55EAC}"/>
              </a:ext>
            </a:extLst>
          </p:cNvPr>
          <p:cNvSpPr>
            <a:spLocks noGrp="1"/>
          </p:cNvSpPr>
          <p:nvPr/>
        </p:nvSpPr>
        <p:spPr>
          <a:xfrm>
            <a:off x="647700" y="6457950"/>
            <a:ext cx="5715000" cy="209550"/>
          </a:xfrm>
          <a:prstGeom prst="rect">
            <a:avLst/>
          </a:prstGeom>
          <a:noFill/>
          <a:ln w="0">
            <a:noFill/>
          </a:ln>
        </p:spPr>
        <p:txBody>
          <a:bodyPr anchor="ctr">
            <a:noAutofit/>
          </a:bodyPr>
          <a:lstStyle/>
          <a:p>
            <a:pPr algn="l">
              <a:defRPr sz="1050" b="0">
                <a:solidFill>
                  <a:srgbClr val="53616E"/>
                </a:solidFill>
                <a:latin typeface="Arial"/>
                <a:ea typeface="Arial"/>
                <a:cs typeface="Arial"/>
              </a:defRPr>
            </a:pPr>
            <a:r>
              <a:rPr sz="1050" b="0">
                <a:solidFill>
                  <a:srgbClr val="53616E"/>
                </a:solidFill>
                <a:latin typeface="Arial"/>
                <a:ea typeface="Arial"/>
                <a:cs typeface="Arial"/>
              </a:rPr>
              <a:t>Matemáticas Computacionales · K-SVD</a:t>
            </a:r>
          </a:p>
        </p:txBody>
      </p:sp>
      <p:sp>
        <p:nvSpPr>
          <p:cNvPr id="4" name="Rechteck 3">
            <a:extLst>
              <a:ext uri="{FF2B5EF4-FFF2-40B4-BE49-F238E27FC236}">
                <a16:creationId xmlns:a16="http://schemas.microsoft.com/office/drawing/2014/main" id="{87B1E0BC-D7BE-44A6-A976-28DFBBF56263}"/>
              </a:ext>
            </a:extLst>
          </p:cNvPr>
          <p:cNvSpPr>
            <a:spLocks noGrp="1"/>
          </p:cNvSpPr>
          <p:nvPr/>
        </p:nvSpPr>
        <p:spPr>
          <a:xfrm>
            <a:off x="723900" y="1390650"/>
            <a:ext cx="419100" cy="419100"/>
          </a:xfrm>
          <a:prstGeom prst="rect">
            <a:avLst/>
          </a:prstGeom>
          <a:noFill/>
          <a:ln w="0">
            <a:noFill/>
          </a:ln>
        </p:spPr>
        <p:txBody>
          <a:bodyPr anchor="ctr">
            <a:noAutofit/>
          </a:bodyPr>
          <a:lstStyle/>
          <a:p>
            <a:pPr algn="ctr">
              <a:defRPr sz="2250" b="1">
                <a:solidFill>
                  <a:srgbClr val="D76F3E"/>
                </a:solidFill>
                <a:latin typeface="Arial"/>
                <a:ea typeface="Arial"/>
                <a:cs typeface="Arial"/>
              </a:defRPr>
            </a:pPr>
            <a:r>
              <a:rPr sz="2250" b="1">
                <a:solidFill>
                  <a:srgbClr val="D76F3E"/>
                </a:solidFill>
                <a:latin typeface="Arial"/>
                <a:ea typeface="Arial"/>
                <a:cs typeface="Arial"/>
              </a:rPr>
              <a:t>1</a:t>
            </a:r>
          </a:p>
        </p:txBody>
      </p:sp>
      <p:sp>
        <p:nvSpPr>
          <p:cNvPr id="5" name="Rechteck 4">
            <a:extLst>
              <a:ext uri="{FF2B5EF4-FFF2-40B4-BE49-F238E27FC236}">
                <a16:creationId xmlns:a16="http://schemas.microsoft.com/office/drawing/2014/main" id="{8D4CFBA0-FB7F-46D6-8C94-256D3C5C27A8}"/>
              </a:ext>
            </a:extLst>
          </p:cNvPr>
          <p:cNvSpPr>
            <a:spLocks noGrp="1"/>
          </p:cNvSpPr>
          <p:nvPr/>
        </p:nvSpPr>
        <p:spPr>
          <a:xfrm>
            <a:off x="1333500" y="1314450"/>
            <a:ext cx="5715000" cy="628650"/>
          </a:xfrm>
          <a:prstGeom prst="rect">
            <a:avLst/>
          </a:prstGeom>
          <a:noFill/>
          <a:ln w="0">
            <a:noFill/>
          </a:ln>
        </p:spPr>
        <p:txBody>
          <a:bodyPr anchor="ctr">
            <a:noAutofit/>
          </a:bodyPr>
          <a:lstStyle/>
          <a:p>
            <a:pPr algn="l">
              <a:defRPr sz="1875" b="1">
                <a:solidFill>
                  <a:srgbClr val="17324D"/>
                </a:solidFill>
                <a:latin typeface="Arial"/>
                <a:ea typeface="Arial"/>
                <a:cs typeface="Arial"/>
              </a:defRPr>
            </a:pPr>
            <a:r>
              <a:rPr sz="1875" b="1">
                <a:solidFill>
                  <a:srgbClr val="17324D"/>
                </a:solidFill>
                <a:latin typeface="Arial"/>
                <a:ea typeface="Arial"/>
                <a:cs typeface="Arial"/>
              </a:rPr>
              <a:t>K-SVD mejoró la entrada ruidosa en 4.03 dB para este caso.</a:t>
            </a:r>
          </a:p>
        </p:txBody>
      </p:sp>
      <p:sp>
        <p:nvSpPr>
          <p:cNvPr id="6" name="Rechteck 5">
            <a:extLst>
              <a:ext uri="{FF2B5EF4-FFF2-40B4-BE49-F238E27FC236}">
                <a16:creationId xmlns:a16="http://schemas.microsoft.com/office/drawing/2014/main" id="{53CE078A-7B1F-4994-8B9D-F769FA33A054}"/>
              </a:ext>
            </a:extLst>
          </p:cNvPr>
          <p:cNvSpPr>
            <a:spLocks noGrp="1"/>
          </p:cNvSpPr>
          <p:nvPr/>
        </p:nvSpPr>
        <p:spPr>
          <a:xfrm>
            <a:off x="723900" y="2400300"/>
            <a:ext cx="419100" cy="419100"/>
          </a:xfrm>
          <a:prstGeom prst="rect">
            <a:avLst/>
          </a:prstGeom>
          <a:noFill/>
          <a:ln w="0">
            <a:noFill/>
          </a:ln>
        </p:spPr>
        <p:txBody>
          <a:bodyPr anchor="ctr">
            <a:noAutofit/>
          </a:bodyPr>
          <a:lstStyle/>
          <a:p>
            <a:pPr algn="ctr">
              <a:defRPr sz="2250" b="1">
                <a:solidFill>
                  <a:srgbClr val="D76F3E"/>
                </a:solidFill>
                <a:latin typeface="Arial"/>
                <a:ea typeface="Arial"/>
                <a:cs typeface="Arial"/>
              </a:defRPr>
            </a:pPr>
            <a:r>
              <a:rPr sz="2250" b="1">
                <a:solidFill>
                  <a:srgbClr val="D76F3E"/>
                </a:solidFill>
                <a:latin typeface="Arial"/>
                <a:ea typeface="Arial"/>
                <a:cs typeface="Arial"/>
              </a:rPr>
              <a:t>2</a:t>
            </a:r>
          </a:p>
        </p:txBody>
      </p:sp>
      <p:sp>
        <p:nvSpPr>
          <p:cNvPr id="7" name="Rechteck 6">
            <a:extLst>
              <a:ext uri="{FF2B5EF4-FFF2-40B4-BE49-F238E27FC236}">
                <a16:creationId xmlns:a16="http://schemas.microsoft.com/office/drawing/2014/main" id="{28CEC2D3-C214-41C1-BB4A-8C9EE01BBB94}"/>
              </a:ext>
            </a:extLst>
          </p:cNvPr>
          <p:cNvSpPr>
            <a:spLocks noGrp="1"/>
          </p:cNvSpPr>
          <p:nvPr/>
        </p:nvSpPr>
        <p:spPr>
          <a:xfrm>
            <a:off x="1333500" y="2247900"/>
            <a:ext cx="5715000" cy="800100"/>
          </a:xfrm>
          <a:prstGeom prst="rect">
            <a:avLst/>
          </a:prstGeom>
          <a:noFill/>
          <a:ln w="0">
            <a:noFill/>
          </a:ln>
        </p:spPr>
        <p:txBody>
          <a:bodyPr anchor="ctr">
            <a:noAutofit/>
          </a:bodyPr>
          <a:lstStyle/>
          <a:p>
            <a:pPr algn="l">
              <a:defRPr sz="1875" b="1">
                <a:solidFill>
                  <a:srgbClr val="17324D"/>
                </a:solidFill>
                <a:latin typeface="Arial"/>
                <a:ea typeface="Arial"/>
                <a:cs typeface="Arial"/>
              </a:defRPr>
            </a:pPr>
            <a:r>
              <a:rPr sz="1875" b="1">
                <a:solidFill>
                  <a:srgbClr val="17324D"/>
                </a:solidFill>
                <a:latin typeface="Arial"/>
                <a:ea typeface="Arial"/>
                <a:cs typeface="Arial"/>
              </a:rPr>
              <a:t>T0=4 equilibró detalle y ajuste de ruido; T0=8 fue mejor sólo en la entrada limpia.</a:t>
            </a:r>
          </a:p>
        </p:txBody>
      </p:sp>
      <p:sp>
        <p:nvSpPr>
          <p:cNvPr id="8" name="Rechteck 7">
            <a:extLst>
              <a:ext uri="{FF2B5EF4-FFF2-40B4-BE49-F238E27FC236}">
                <a16:creationId xmlns:a16="http://schemas.microsoft.com/office/drawing/2014/main" id="{ECCB6FEE-BDB6-4CAB-9335-8A38B2C22CD0}"/>
              </a:ext>
            </a:extLst>
          </p:cNvPr>
          <p:cNvSpPr>
            <a:spLocks noGrp="1"/>
          </p:cNvSpPr>
          <p:nvPr/>
        </p:nvSpPr>
        <p:spPr>
          <a:xfrm>
            <a:off x="723900" y="3486150"/>
            <a:ext cx="419100" cy="419100"/>
          </a:xfrm>
          <a:prstGeom prst="rect">
            <a:avLst/>
          </a:prstGeom>
          <a:noFill/>
          <a:ln w="0">
            <a:noFill/>
          </a:ln>
        </p:spPr>
        <p:txBody>
          <a:bodyPr anchor="ctr">
            <a:noAutofit/>
          </a:bodyPr>
          <a:lstStyle/>
          <a:p>
            <a:pPr algn="ctr">
              <a:defRPr sz="2250" b="1">
                <a:solidFill>
                  <a:srgbClr val="D76F3E"/>
                </a:solidFill>
                <a:latin typeface="Arial"/>
                <a:ea typeface="Arial"/>
                <a:cs typeface="Arial"/>
              </a:defRPr>
            </a:pPr>
            <a:r>
              <a:rPr sz="2250" b="1">
                <a:solidFill>
                  <a:srgbClr val="D76F3E"/>
                </a:solidFill>
                <a:latin typeface="Arial"/>
                <a:ea typeface="Arial"/>
                <a:cs typeface="Arial"/>
              </a:rPr>
              <a:t>3</a:t>
            </a:r>
          </a:p>
        </p:txBody>
      </p:sp>
      <p:sp>
        <p:nvSpPr>
          <p:cNvPr id="9" name="Rechteck 8">
            <a:extLst>
              <a:ext uri="{FF2B5EF4-FFF2-40B4-BE49-F238E27FC236}">
                <a16:creationId xmlns:a16="http://schemas.microsoft.com/office/drawing/2014/main" id="{F95BC5C8-C986-4551-9047-C8DDF85278A0}"/>
              </a:ext>
            </a:extLst>
          </p:cNvPr>
          <p:cNvSpPr>
            <a:spLocks noGrp="1"/>
          </p:cNvSpPr>
          <p:nvPr/>
        </p:nvSpPr>
        <p:spPr>
          <a:xfrm>
            <a:off x="1333500" y="3314700"/>
            <a:ext cx="5715000" cy="895350"/>
          </a:xfrm>
          <a:prstGeom prst="rect">
            <a:avLst/>
          </a:prstGeom>
          <a:noFill/>
          <a:ln w="0">
            <a:noFill/>
          </a:ln>
        </p:spPr>
        <p:txBody>
          <a:bodyPr anchor="ctr">
            <a:noAutofit/>
          </a:bodyPr>
          <a:lstStyle/>
          <a:p>
            <a:pPr algn="l">
              <a:defRPr sz="1875" b="1">
                <a:solidFill>
                  <a:srgbClr val="17324D"/>
                </a:solidFill>
                <a:latin typeface="Arial"/>
                <a:ea typeface="Arial"/>
                <a:cs typeface="Arial"/>
              </a:defRPr>
            </a:pPr>
            <a:r>
              <a:rPr sz="1875" b="1">
                <a:solidFill>
                  <a:srgbClr val="17324D"/>
                </a:solidFill>
                <a:latin typeface="Arial"/>
                <a:ea typeface="Arial"/>
                <a:cs typeface="Arial"/>
              </a:rPr>
              <a:t>El resultado es una prueba de concepto: una imagen, una realización de ruido y sin comparación externa.</a:t>
            </a:r>
          </a:p>
        </p:txBody>
      </p:sp>
      <p:sp>
        <p:nvSpPr>
          <p:cNvPr id="10" name="Rechteck 9">
            <a:extLst>
              <a:ext uri="{FF2B5EF4-FFF2-40B4-BE49-F238E27FC236}">
                <a16:creationId xmlns:a16="http://schemas.microsoft.com/office/drawing/2014/main" id="{7CB8D0E0-F4F1-4514-923B-F5EEA04A0669}"/>
              </a:ext>
            </a:extLst>
          </p:cNvPr>
          <p:cNvSpPr>
            <a:spLocks noGrp="1"/>
          </p:cNvSpPr>
          <p:nvPr/>
        </p:nvSpPr>
        <p:spPr>
          <a:xfrm>
            <a:off x="7810500" y="1381125"/>
            <a:ext cx="3143250" cy="438150"/>
          </a:xfrm>
          <a:prstGeom prst="rect">
            <a:avLst/>
          </a:prstGeom>
          <a:noFill/>
          <a:ln w="0">
            <a:noFill/>
          </a:ln>
        </p:spPr>
        <p:txBody>
          <a:bodyPr anchor="ctr">
            <a:noAutofit/>
          </a:bodyPr>
          <a:lstStyle/>
          <a:p>
            <a:pPr algn="ctr">
              <a:defRPr sz="2175" b="1">
                <a:solidFill>
                  <a:srgbClr val="1F5A8A"/>
                </a:solidFill>
                <a:latin typeface="Arial"/>
                <a:ea typeface="Arial"/>
                <a:cs typeface="Arial"/>
              </a:defRPr>
            </a:pPr>
            <a:r>
              <a:rPr sz="2175" b="1">
                <a:solidFill>
                  <a:srgbClr val="1F5A8A"/>
                </a:solidFill>
                <a:latin typeface="Arial"/>
                <a:ea typeface="Arial"/>
                <a:cs typeface="Arial"/>
              </a:rPr>
              <a:t>Siguiente evaluación</a:t>
            </a:r>
          </a:p>
        </p:txBody>
      </p:sp>
      <p:sp>
        <p:nvSpPr>
          <p:cNvPr id="11" name="Rechteck 10">
            <a:extLst>
              <a:ext uri="{FF2B5EF4-FFF2-40B4-BE49-F238E27FC236}">
                <a16:creationId xmlns:a16="http://schemas.microsoft.com/office/drawing/2014/main" id="{E06A666A-4D88-45E4-830C-EF67A90551B9}"/>
              </a:ext>
            </a:extLst>
          </p:cNvPr>
          <p:cNvSpPr>
            <a:spLocks noGrp="1"/>
          </p:cNvSpPr>
          <p:nvPr/>
        </p:nvSpPr>
        <p:spPr>
          <a:xfrm>
            <a:off x="7810500" y="1952625"/>
            <a:ext cx="3238500" cy="2857500"/>
          </a:xfrm>
          <a:prstGeom prst="rect">
            <a:avLst/>
          </a:prstGeom>
          <a:noFill/>
          <a:ln w="0">
            <a:noFill/>
          </a:ln>
        </p:spPr>
        <p:txBody>
          <a:bodyPr anchor="ctr">
            <a:noAutofit/>
          </a:bodyPr>
          <a:lstStyle/>
          <a:p>
            <a:pPr algn="ctr">
              <a:defRPr sz="1650" b="0">
                <a:solidFill>
                  <a:srgbClr val="17212B"/>
                </a:solidFill>
                <a:latin typeface="Arial"/>
                <a:ea typeface="Arial"/>
                <a:cs typeface="Arial"/>
              </a:defRPr>
            </a:pPr>
            <a:r>
              <a:rPr sz="1650" b="0">
                <a:solidFill>
                  <a:srgbClr val="17212B"/>
                </a:solidFill>
                <a:latin typeface="Arial"/>
                <a:ea typeface="Arial"/>
                <a:cs typeface="Arial"/>
              </a:rPr>
              <a:t>más imágenes</a:t>
            </a:r>
          </a:p>
          <a:p>
            <a:endParaRPr sz="1650" b="0">
              <a:solidFill>
                <a:srgbClr val="17212B"/>
              </a:solidFill>
              <a:latin typeface="Arial"/>
              <a:ea typeface="Arial"/>
              <a:cs typeface="Arial"/>
            </a:endParaRPr>
          </a:p>
          <a:p>
            <a:pPr algn="ctr">
              <a:defRPr sz="1650" b="0">
                <a:solidFill>
                  <a:srgbClr val="17212B"/>
                </a:solidFill>
                <a:latin typeface="Arial"/>
                <a:ea typeface="Arial"/>
                <a:cs typeface="Arial"/>
              </a:defRPr>
            </a:pPr>
            <a:r>
              <a:rPr sz="1650" b="0">
                <a:solidFill>
                  <a:srgbClr val="17212B"/>
                </a:solidFill>
                <a:latin typeface="Arial"/>
                <a:ea typeface="Arial"/>
                <a:cs typeface="Arial"/>
              </a:rPr>
              <a:t>varias semillas de ruido</a:t>
            </a:r>
          </a:p>
          <a:p>
            <a:endParaRPr sz="1650" b="0">
              <a:solidFill>
                <a:srgbClr val="17212B"/>
              </a:solidFill>
              <a:latin typeface="Arial"/>
              <a:ea typeface="Arial"/>
              <a:cs typeface="Arial"/>
            </a:endParaRPr>
          </a:p>
          <a:p>
            <a:pPr algn="ctr">
              <a:defRPr sz="1650" b="0">
                <a:solidFill>
                  <a:srgbClr val="17212B"/>
                </a:solidFill>
                <a:latin typeface="Arial"/>
                <a:ea typeface="Arial"/>
                <a:cs typeface="Arial"/>
              </a:defRPr>
            </a:pPr>
            <a:r>
              <a:rPr sz="1650" b="0">
                <a:solidFill>
                  <a:srgbClr val="17212B"/>
                </a:solidFill>
                <a:latin typeface="Arial"/>
                <a:ea typeface="Arial"/>
                <a:cs typeface="Arial"/>
              </a:rPr>
              <a:t>niveles adicionales de σ</a:t>
            </a:r>
          </a:p>
          <a:p>
            <a:endParaRPr sz="1650" b="0">
              <a:solidFill>
                <a:srgbClr val="17212B"/>
              </a:solidFill>
              <a:latin typeface="Arial"/>
              <a:ea typeface="Arial"/>
              <a:cs typeface="Arial"/>
            </a:endParaRPr>
          </a:p>
          <a:p>
            <a:pPr algn="ctr">
              <a:defRPr sz="1650" b="0">
                <a:solidFill>
                  <a:srgbClr val="17212B"/>
                </a:solidFill>
                <a:latin typeface="Arial"/>
                <a:ea typeface="Arial"/>
                <a:cs typeface="Arial"/>
              </a:defRPr>
            </a:pPr>
            <a:r>
              <a:rPr sz="1650" b="0">
                <a:solidFill>
                  <a:srgbClr val="17212B"/>
                </a:solidFill>
                <a:latin typeface="Arial"/>
                <a:ea typeface="Arial"/>
                <a:cs typeface="Arial"/>
              </a:rPr>
              <a:t>criterio OMP por error</a:t>
            </a:r>
          </a:p>
          <a:p>
            <a:endParaRPr sz="1650" b="0">
              <a:solidFill>
                <a:srgbClr val="17212B"/>
              </a:solidFill>
              <a:latin typeface="Arial"/>
              <a:ea typeface="Arial"/>
              <a:cs typeface="Arial"/>
            </a:endParaRPr>
          </a:p>
          <a:p>
            <a:pPr algn="ctr">
              <a:defRPr sz="1650" b="0">
                <a:solidFill>
                  <a:srgbClr val="17212B"/>
                </a:solidFill>
                <a:latin typeface="Arial"/>
                <a:ea typeface="Arial"/>
                <a:cs typeface="Arial"/>
              </a:defRPr>
            </a:pPr>
            <a:r>
              <a:rPr sz="1650" b="0">
                <a:solidFill>
                  <a:srgbClr val="17212B"/>
                </a:solidFill>
                <a:latin typeface="Arial"/>
                <a:ea typeface="Arial"/>
                <a:cs typeface="Arial"/>
              </a:rPr>
              <a:t>comparadores públicos</a:t>
            </a:r>
          </a:p>
        </p:txBody>
      </p:sp>
      <p:sp>
        <p:nvSpPr>
          <p:cNvPr id="12" name="Rechteck 11">
            <a:extLst>
              <a:ext uri="{FF2B5EF4-FFF2-40B4-BE49-F238E27FC236}">
                <a16:creationId xmlns:a16="http://schemas.microsoft.com/office/drawing/2014/main" id="{C5BAF34D-7AAD-442E-9546-013D413B1120}"/>
              </a:ext>
            </a:extLst>
          </p:cNvPr>
          <p:cNvSpPr>
            <a:spLocks noGrp="1"/>
          </p:cNvSpPr>
          <p:nvPr/>
        </p:nvSpPr>
        <p:spPr>
          <a:xfrm>
            <a:off x="781050" y="5305425"/>
            <a:ext cx="10334625" cy="533400"/>
          </a:xfrm>
          <a:prstGeom prst="rect">
            <a:avLst/>
          </a:prstGeom>
          <a:noFill/>
          <a:ln w="0">
            <a:noFill/>
          </a:ln>
        </p:spPr>
        <p:txBody>
          <a:bodyPr anchor="ctr">
            <a:noAutofit/>
          </a:bodyPr>
          <a:lstStyle/>
          <a:p>
            <a:pPr algn="ctr">
              <a:defRPr sz="1650" b="1">
                <a:solidFill>
                  <a:srgbClr val="D76F3E"/>
                </a:solidFill>
                <a:latin typeface="Arial"/>
                <a:ea typeface="Arial"/>
                <a:cs typeface="Arial"/>
              </a:defRPr>
            </a:pPr>
            <a:r>
              <a:rPr sz="1650" b="1">
                <a:solidFill>
                  <a:srgbClr val="D76F3E"/>
                </a:solidFill>
                <a:latin typeface="Arial"/>
                <a:ea typeface="Arial"/>
                <a:cs typeface="Arial"/>
              </a:rPr>
              <a:t>Conclusión: la dispersión debe ajustarse al nivel de ruido y validarse fuera de la prueba</a:t>
            </a:r>
          </a:p>
        </p:txBody>
      </p:sp>
      <p:sp>
        <p:nvSpPr>
          <p:cNvPr id="13" name="Rechteck 12">
            <a:extLst>
              <a:ext uri="{FF2B5EF4-FFF2-40B4-BE49-F238E27FC236}">
                <a16:creationId xmlns:a16="http://schemas.microsoft.com/office/drawing/2014/main" id="{ACBCBA24-A75C-46E3-A937-A38FE8D13A09}"/>
              </a:ext>
            </a:extLst>
          </p:cNvPr>
          <p:cNvSpPr>
            <a:spLocks noGrp="1"/>
          </p:cNvSpPr>
          <p:nvPr/>
        </p:nvSpPr>
        <p:spPr>
          <a:xfrm>
            <a:off x="7334250" y="6419850"/>
            <a:ext cx="4238625" cy="228600"/>
          </a:xfrm>
          <a:prstGeom prst="rect">
            <a:avLst/>
          </a:prstGeom>
          <a:noFill/>
          <a:ln w="0">
            <a:noFill/>
          </a:ln>
        </p:spPr>
        <p:txBody>
          <a:bodyPr anchor="ctr">
            <a:noAutofit/>
          </a:bodyPr>
          <a:lstStyle/>
          <a:p>
            <a:pPr algn="r">
              <a:defRPr sz="1050" b="1">
                <a:solidFill>
                  <a:srgbClr val="D76F3E"/>
                </a:solidFill>
                <a:latin typeface="Arial"/>
                <a:ea typeface="Arial"/>
                <a:cs typeface="Arial"/>
              </a:defRPr>
            </a:pPr>
            <a:r>
              <a:rPr sz="1050" b="1">
                <a:solidFill>
                  <a:srgbClr val="D76F3E"/>
                </a:solidFill>
                <a:latin typeface="Arial"/>
                <a:ea typeface="Arial"/>
                <a:cs typeface="Arial"/>
              </a:rPr>
              <a:t>Areli · Integrante 4</a:t>
            </a:r>
          </a:p>
        </p:txBody>
      </p:sp>
    </p:spTree>
    <p:extLst>
      <p:ext uri="{BB962C8B-B14F-4D97-AF65-F5344CB8AC3E}">
        <p14:creationId xmlns:p14="http://schemas.microsoft.com/office/powerpoint/2010/main" val="106041599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1939</Words>
  <Application>Microsoft Office PowerPoint</Application>
  <DocSecurity>0</DocSecurity>
  <PresentationFormat>Breitbild</PresentationFormat>
  <Paragraphs>225</Paragraphs>
  <Slides>8</Slides>
  <Notes>8</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8</vt:i4>
      </vt:variant>
    </vt:vector>
  </HeadingPairs>
  <TitlesOfParts>
    <vt:vector size="11" baseType="lpstr">
      <vt:lpstr>Arial</vt:lpstr>
      <vt:lpstr>Calibri</vt:lpstr>
      <vt:lpstr>ChatGPT</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Dany Vasquez</cp:lastModifiedBy>
  <cp:revision>1</cp:revision>
  <dcterms:created xsi:type="dcterms:W3CDTF">2026-10-04T16:01:29Z</dcterms:created>
  <dcterms:modified xsi:type="dcterms:W3CDTF">2026-10-04T16:18:12Z</dcterms:modified>
</cp:coreProperties>
</file>